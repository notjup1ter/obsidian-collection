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2" r:id="rId1"/>
  </p:sldMasterIdLst>
  <p:sldIdLst>
    <p:sldId id="256" r:id="rId2"/>
    <p:sldId id="263" r:id="rId3"/>
    <p:sldId id="257" r:id="rId4"/>
    <p:sldId id="258" r:id="rId5"/>
    <p:sldId id="259" r:id="rId6"/>
    <p:sldId id="260" r:id="rId7"/>
    <p:sldId id="261" r:id="rId8"/>
    <p:sldId id="262" r:id="rId9"/>
    <p:sldId id="272" r:id="rId10"/>
    <p:sldId id="273" r:id="rId11"/>
    <p:sldId id="276" r:id="rId12"/>
    <p:sldId id="274" r:id="rId13"/>
    <p:sldId id="27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153"/>
    <p:restoredTop sz="94507"/>
  </p:normalViewPr>
  <p:slideViewPr>
    <p:cSldViewPr snapToGrid="0" snapToObjects="1">
      <p:cViewPr varScale="1">
        <p:scale>
          <a:sx n="116" d="100"/>
          <a:sy n="116" d="100"/>
        </p:scale>
        <p:origin x="84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FEAD1AE0-DBF3-8E45-AE76-4D78FDBD1FA7}" type="datetimeFigureOut">
              <a:rPr lang="en-US" smtClean="0"/>
              <a:t>9/5/23</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0EF550BC-1425-FC46-9FEE-EE0D1D47356C}"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55506424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AD1AE0-DBF3-8E45-AE76-4D78FDBD1FA7}" type="datetimeFigureOut">
              <a:rPr lang="en-US" smtClean="0"/>
              <a:t>9/5/23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F550BC-1425-FC46-9FEE-EE0D1D47356C}" type="slidenum">
              <a:rPr lang="en-US" smtClean="0"/>
              <a:t>‹#›</a:t>
            </a:fld>
            <a:endParaRPr lang="en-US"/>
          </a:p>
        </p:txBody>
      </p:sp>
    </p:spTree>
    <p:extLst>
      <p:ext uri="{BB962C8B-B14F-4D97-AF65-F5344CB8AC3E}">
        <p14:creationId xmlns:p14="http://schemas.microsoft.com/office/powerpoint/2010/main" val="2795883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FEAD1AE0-DBF3-8E45-AE76-4D78FDBD1FA7}" type="datetimeFigureOut">
              <a:rPr lang="en-US" smtClean="0"/>
              <a:t>9/5/23</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0EF550BC-1425-FC46-9FEE-EE0D1D47356C}"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98124912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AD1AE0-DBF3-8E45-AE76-4D78FDBD1FA7}" type="datetimeFigureOut">
              <a:rPr lang="en-US" smtClean="0"/>
              <a:t>9/5/23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F550BC-1425-FC46-9FEE-EE0D1D47356C}" type="slidenum">
              <a:rPr lang="en-US" smtClean="0"/>
              <a:t>‹#›</a:t>
            </a:fld>
            <a:endParaRPr lang="en-US"/>
          </a:p>
        </p:txBody>
      </p:sp>
    </p:spTree>
    <p:extLst>
      <p:ext uri="{BB962C8B-B14F-4D97-AF65-F5344CB8AC3E}">
        <p14:creationId xmlns:p14="http://schemas.microsoft.com/office/powerpoint/2010/main" val="78694544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AD1AE0-DBF3-8E45-AE76-4D78FDBD1FA7}" type="datetimeFigureOut">
              <a:rPr lang="en-US" smtClean="0"/>
              <a:t>9/5/23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F550BC-1425-FC46-9FEE-EE0D1D47356C}" type="slidenum">
              <a:rPr lang="en-US" smtClean="0"/>
              <a:t>‹#›</a:t>
            </a:fld>
            <a:endParaRPr lang="en-US"/>
          </a:p>
        </p:txBody>
      </p:sp>
    </p:spTree>
    <p:extLst>
      <p:ext uri="{BB962C8B-B14F-4D97-AF65-F5344CB8AC3E}">
        <p14:creationId xmlns:p14="http://schemas.microsoft.com/office/powerpoint/2010/main" val="268629620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AD1AE0-DBF3-8E45-AE76-4D78FDBD1FA7}" type="datetimeFigureOut">
              <a:rPr lang="en-US" smtClean="0"/>
              <a:t>9/5/23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F550BC-1425-FC46-9FEE-EE0D1D47356C}" type="slidenum">
              <a:rPr lang="en-US" smtClean="0"/>
              <a:t>‹#›</a:t>
            </a:fld>
            <a:endParaRPr lang="en-US"/>
          </a:p>
        </p:txBody>
      </p:sp>
    </p:spTree>
    <p:extLst>
      <p:ext uri="{BB962C8B-B14F-4D97-AF65-F5344CB8AC3E}">
        <p14:creationId xmlns:p14="http://schemas.microsoft.com/office/powerpoint/2010/main" val="211487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AD1AE0-DBF3-8E45-AE76-4D78FDBD1FA7}" type="datetimeFigureOut">
              <a:rPr lang="en-US" smtClean="0"/>
              <a:t>9/5/23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F550BC-1425-FC46-9FEE-EE0D1D47356C}" type="slidenum">
              <a:rPr lang="en-US" smtClean="0"/>
              <a:t>‹#›</a:t>
            </a:fld>
            <a:endParaRPr lang="en-US"/>
          </a:p>
        </p:txBody>
      </p:sp>
    </p:spTree>
    <p:extLst>
      <p:ext uri="{BB962C8B-B14F-4D97-AF65-F5344CB8AC3E}">
        <p14:creationId xmlns:p14="http://schemas.microsoft.com/office/powerpoint/2010/main" val="373920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FEAD1AE0-DBF3-8E45-AE76-4D78FDBD1FA7}" type="datetimeFigureOut">
              <a:rPr lang="en-US" smtClean="0"/>
              <a:t>9/5/23</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EF550BC-1425-FC46-9FEE-EE0D1D47356C}"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7975975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FEAD1AE0-DBF3-8E45-AE76-4D78FDBD1FA7}" type="datetimeFigureOut">
              <a:rPr lang="en-US" smtClean="0"/>
              <a:t>9/5/23</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EF550BC-1425-FC46-9FEE-EE0D1D47356C}"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36237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AD1AE0-DBF3-8E45-AE76-4D78FDBD1FA7}" type="datetimeFigureOut">
              <a:rPr lang="en-US" smtClean="0"/>
              <a:t>9/5/23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F550BC-1425-FC46-9FEE-EE0D1D47356C}" type="slidenum">
              <a:rPr lang="en-US" smtClean="0"/>
              <a:t>‹#›</a:t>
            </a:fld>
            <a:endParaRPr lang="en-US"/>
          </a:p>
        </p:txBody>
      </p:sp>
    </p:spTree>
    <p:extLst>
      <p:ext uri="{BB962C8B-B14F-4D97-AF65-F5344CB8AC3E}">
        <p14:creationId xmlns:p14="http://schemas.microsoft.com/office/powerpoint/2010/main" val="1747283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AD1AE0-DBF3-8E45-AE76-4D78FDBD1FA7}" type="datetimeFigureOut">
              <a:rPr lang="en-US" smtClean="0"/>
              <a:t>9/5/23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F550BC-1425-FC46-9FEE-EE0D1D47356C}" type="slidenum">
              <a:rPr lang="en-US" smtClean="0"/>
              <a:t>‹#›</a:t>
            </a:fld>
            <a:endParaRPr lang="en-US"/>
          </a:p>
        </p:txBody>
      </p:sp>
    </p:spTree>
    <p:extLst>
      <p:ext uri="{BB962C8B-B14F-4D97-AF65-F5344CB8AC3E}">
        <p14:creationId xmlns:p14="http://schemas.microsoft.com/office/powerpoint/2010/main" val="3296140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FEAD1AE0-DBF3-8E45-AE76-4D78FDBD1FA7}" type="datetimeFigureOut">
              <a:rPr lang="en-US" smtClean="0"/>
              <a:t>9/5/23</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0EF550BC-1425-FC46-9FEE-EE0D1D47356C}"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79892405"/>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F0F5E-2583-B04F-8645-170A60B993C1}"/>
              </a:ext>
            </a:extLst>
          </p:cNvPr>
          <p:cNvSpPr>
            <a:spLocks noGrp="1"/>
          </p:cNvSpPr>
          <p:nvPr>
            <p:ph type="ctrTitle"/>
          </p:nvPr>
        </p:nvSpPr>
        <p:spPr/>
        <p:txBody>
          <a:bodyPr>
            <a:normAutofit/>
          </a:bodyPr>
          <a:lstStyle/>
          <a:p>
            <a:r>
              <a:rPr lang="en-US" b="1" dirty="0"/>
              <a:t>estimation vs prediction</a:t>
            </a:r>
            <a:endParaRPr lang="en-US" dirty="0"/>
          </a:p>
        </p:txBody>
      </p:sp>
      <p:sp>
        <p:nvSpPr>
          <p:cNvPr id="3" name="Subtitle 2">
            <a:extLst>
              <a:ext uri="{FF2B5EF4-FFF2-40B4-BE49-F238E27FC236}">
                <a16:creationId xmlns:a16="http://schemas.microsoft.com/office/drawing/2014/main" id="{E202EF07-B8B4-D04B-AD83-48BF026CC55A}"/>
              </a:ext>
            </a:extLst>
          </p:cNvPr>
          <p:cNvSpPr>
            <a:spLocks noGrp="1"/>
          </p:cNvSpPr>
          <p:nvPr>
            <p:ph type="subTitle" idx="1"/>
          </p:nvPr>
        </p:nvSpPr>
        <p:spPr/>
        <p:txBody>
          <a:bodyPr/>
          <a:lstStyle/>
          <a:p>
            <a:r>
              <a:rPr lang="en-US" dirty="0"/>
              <a:t>Unit 1.4: Ch 4.9 Notes</a:t>
            </a:r>
          </a:p>
        </p:txBody>
      </p:sp>
    </p:spTree>
    <p:extLst>
      <p:ext uri="{BB962C8B-B14F-4D97-AF65-F5344CB8AC3E}">
        <p14:creationId xmlns:p14="http://schemas.microsoft.com/office/powerpoint/2010/main" val="385396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631A-D500-F349-A1D9-F4AAE99E7458}"/>
              </a:ext>
            </a:extLst>
          </p:cNvPr>
          <p:cNvSpPr>
            <a:spLocks noGrp="1"/>
          </p:cNvSpPr>
          <p:nvPr>
            <p:ph type="title"/>
          </p:nvPr>
        </p:nvSpPr>
        <p:spPr/>
        <p:txBody>
          <a:bodyPr>
            <a:normAutofit fontScale="90000"/>
          </a:bodyPr>
          <a:lstStyle/>
          <a:p>
            <a:r>
              <a:rPr lang="en-US" dirty="0"/>
              <a:t>Using the model for Prediction and estimation</a:t>
            </a:r>
          </a:p>
        </p:txBody>
      </p:sp>
      <p:sp>
        <p:nvSpPr>
          <p:cNvPr id="3" name="Text Placeholder 2">
            <a:extLst>
              <a:ext uri="{FF2B5EF4-FFF2-40B4-BE49-F238E27FC236}">
                <a16:creationId xmlns:a16="http://schemas.microsoft.com/office/drawing/2014/main" id="{02842EA6-A50D-BB46-8C08-43588F928636}"/>
              </a:ext>
            </a:extLst>
          </p:cNvPr>
          <p:cNvSpPr>
            <a:spLocks noGrp="1"/>
          </p:cNvSpPr>
          <p:nvPr>
            <p:ph type="body" idx="1"/>
          </p:nvPr>
        </p:nvSpPr>
        <p:spPr/>
        <p:txBody>
          <a:bodyPr/>
          <a:lstStyle/>
          <a:p>
            <a:r>
              <a:rPr lang="en-US" dirty="0"/>
              <a:t>Ch 4.9</a:t>
            </a:r>
          </a:p>
        </p:txBody>
      </p:sp>
    </p:spTree>
    <p:extLst>
      <p:ext uri="{BB962C8B-B14F-4D97-AF65-F5344CB8AC3E}">
        <p14:creationId xmlns:p14="http://schemas.microsoft.com/office/powerpoint/2010/main" val="1236123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53423-784A-2C44-AA74-A12BA7FFD3F3}"/>
              </a:ext>
            </a:extLst>
          </p:cNvPr>
          <p:cNvSpPr>
            <a:spLocks noGrp="1"/>
          </p:cNvSpPr>
          <p:nvPr>
            <p:ph type="title"/>
          </p:nvPr>
        </p:nvSpPr>
        <p:spPr/>
        <p:txBody>
          <a:bodyPr>
            <a:normAutofit fontScale="90000"/>
          </a:bodyPr>
          <a:lstStyle/>
          <a:p>
            <a:r>
              <a:rPr lang="en-US" dirty="0"/>
              <a:t> </a:t>
            </a:r>
            <a:br>
              <a:rPr lang="en-US" dirty="0"/>
            </a:br>
            <a:r>
              <a:rPr lang="en-US" b="1" dirty="0"/>
              <a:t>The goal for multiple linear regression is to </a:t>
            </a:r>
            <a:br>
              <a:rPr lang="en-US" dirty="0"/>
            </a:br>
            <a:endParaRPr lang="en-US" dirty="0"/>
          </a:p>
        </p:txBody>
      </p:sp>
      <p:sp>
        <p:nvSpPr>
          <p:cNvPr id="3" name="Content Placeholder 2">
            <a:extLst>
              <a:ext uri="{FF2B5EF4-FFF2-40B4-BE49-F238E27FC236}">
                <a16:creationId xmlns:a16="http://schemas.microsoft.com/office/drawing/2014/main" id="{11F6C59E-E86E-D14A-8DCC-B6CEB9C4D6F0}"/>
              </a:ext>
            </a:extLst>
          </p:cNvPr>
          <p:cNvSpPr>
            <a:spLocks noGrp="1"/>
          </p:cNvSpPr>
          <p:nvPr>
            <p:ph idx="1"/>
          </p:nvPr>
        </p:nvSpPr>
        <p:spPr/>
        <p:txBody>
          <a:bodyPr/>
          <a:lstStyle/>
          <a:p>
            <a:pPr marL="457200" lvl="0" indent="-457200">
              <a:buFont typeface="+mj-lt"/>
              <a:buAutoNum type="arabicPeriod"/>
            </a:pPr>
            <a:r>
              <a:rPr lang="en-US" sz="3200" b="1" u="sng" dirty="0">
                <a:solidFill>
                  <a:schemeClr val="tx1"/>
                </a:solidFill>
              </a:rPr>
              <a:t>predict</a:t>
            </a:r>
            <a:r>
              <a:rPr lang="en-US" sz="3200" dirty="0"/>
              <a:t> the response for a particular subject, given a set of predictors</a:t>
            </a:r>
          </a:p>
          <a:p>
            <a:pPr marL="457200" lvl="0" indent="-457200">
              <a:buFont typeface="+mj-lt"/>
              <a:buAutoNum type="arabicPeriod"/>
            </a:pPr>
            <a:r>
              <a:rPr lang="en-US" sz="3200" b="1" u="sng" dirty="0"/>
              <a:t>estimate</a:t>
            </a:r>
            <a:r>
              <a:rPr lang="en-US" sz="3200" dirty="0"/>
              <a:t> the average response for a particular group of subjects who all have the same set of predictors.</a:t>
            </a:r>
          </a:p>
          <a:p>
            <a:endParaRPr lang="en-US" dirty="0"/>
          </a:p>
        </p:txBody>
      </p:sp>
    </p:spTree>
    <p:extLst>
      <p:ext uri="{BB962C8B-B14F-4D97-AF65-F5344CB8AC3E}">
        <p14:creationId xmlns:p14="http://schemas.microsoft.com/office/powerpoint/2010/main" val="1908027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34DA6-57E5-3F42-BAA1-92CD1FF4B533}"/>
              </a:ext>
            </a:extLst>
          </p:cNvPr>
          <p:cNvSpPr>
            <a:spLocks noGrp="1"/>
          </p:cNvSpPr>
          <p:nvPr>
            <p:ph type="title"/>
          </p:nvPr>
        </p:nvSpPr>
        <p:spPr/>
        <p:txBody>
          <a:bodyPr/>
          <a:lstStyle/>
          <a:p>
            <a:r>
              <a:rPr lang="en-US" b="1" dirty="0"/>
              <a:t>Example</a:t>
            </a:r>
            <a:br>
              <a:rPr lang="en-US" b="1" dirty="0"/>
            </a:br>
            <a:endParaRPr lang="en-US" dirty="0"/>
          </a:p>
        </p:txBody>
      </p:sp>
      <p:sp>
        <p:nvSpPr>
          <p:cNvPr id="3" name="Content Placeholder 2">
            <a:extLst>
              <a:ext uri="{FF2B5EF4-FFF2-40B4-BE49-F238E27FC236}">
                <a16:creationId xmlns:a16="http://schemas.microsoft.com/office/drawing/2014/main" id="{3BE2F100-3488-CF4E-BA11-A4E7CD213372}"/>
              </a:ext>
            </a:extLst>
          </p:cNvPr>
          <p:cNvSpPr>
            <a:spLocks noGrp="1"/>
          </p:cNvSpPr>
          <p:nvPr>
            <p:ph idx="1"/>
          </p:nvPr>
        </p:nvSpPr>
        <p:spPr/>
        <p:txBody>
          <a:bodyPr/>
          <a:lstStyle/>
          <a:p>
            <a:pPr lvl="0"/>
            <a:r>
              <a:rPr lang="en-US" dirty="0"/>
              <a:t>Each observation (subject) in your data represents one quarterback in one season in the NFL. We have recorded their yards per game, number of touchdowns, and number of interceptions during the season and would like to build a model to predict a player’s salary.</a:t>
            </a:r>
          </a:p>
          <a:p>
            <a:pPr lvl="1"/>
            <a:r>
              <a:rPr lang="en-US" b="1" i="0" dirty="0"/>
              <a:t>PREDICTION</a:t>
            </a:r>
            <a:r>
              <a:rPr lang="en-US" i="0" dirty="0"/>
              <a:t>: One particular player has 320 yards per game, 34 touch downs, and 16 interceptions. </a:t>
            </a:r>
            <a:r>
              <a:rPr lang="en-US" dirty="0"/>
              <a:t>What is that player’s predicted salary?</a:t>
            </a:r>
          </a:p>
          <a:p>
            <a:pPr lvl="1"/>
            <a:r>
              <a:rPr lang="en-US" b="1" i="0" dirty="0"/>
              <a:t>ESTIMATION</a:t>
            </a:r>
            <a:r>
              <a:rPr lang="en-US" i="0" dirty="0"/>
              <a:t>: There are several players who have 295 yards per game, 17 touchdowns, and </a:t>
            </a:r>
            <a:r>
              <a:rPr lang="en-US" i="0"/>
              <a:t>12 interceptions. </a:t>
            </a:r>
            <a:r>
              <a:rPr lang="en-US" dirty="0"/>
              <a:t>What is the estimate of the average salary for those players?</a:t>
            </a:r>
          </a:p>
          <a:p>
            <a:endParaRPr lang="en-US" dirty="0"/>
          </a:p>
        </p:txBody>
      </p:sp>
      <p:pic>
        <p:nvPicPr>
          <p:cNvPr id="5" name="Graphic 4" descr="Football">
            <a:extLst>
              <a:ext uri="{FF2B5EF4-FFF2-40B4-BE49-F238E27FC236}">
                <a16:creationId xmlns:a16="http://schemas.microsoft.com/office/drawing/2014/main" id="{3659CF05-8DB4-5440-8B86-F274763FB51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24937" y="0"/>
            <a:ext cx="2347913" cy="2347913"/>
          </a:xfrm>
          <a:prstGeom prst="rect">
            <a:avLst/>
          </a:prstGeom>
        </p:spPr>
      </p:pic>
    </p:spTree>
    <p:extLst>
      <p:ext uri="{BB962C8B-B14F-4D97-AF65-F5344CB8AC3E}">
        <p14:creationId xmlns:p14="http://schemas.microsoft.com/office/powerpoint/2010/main" val="306153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47A5F-EDC3-F341-BD94-1CCAD1260A4B}"/>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7A3B7926-D6CC-AD4F-BB09-C77F361A26E7}"/>
              </a:ext>
            </a:extLst>
          </p:cNvPr>
          <p:cNvSpPr>
            <a:spLocks noGrp="1"/>
          </p:cNvSpPr>
          <p:nvPr>
            <p:ph idx="1"/>
          </p:nvPr>
        </p:nvSpPr>
        <p:spPr/>
        <p:txBody>
          <a:bodyPr/>
          <a:lstStyle/>
          <a:p>
            <a:pPr lvl="0"/>
            <a:r>
              <a:rPr lang="en-US" dirty="0"/>
              <a:t>Each observation (subject) in your data represents the one month of sales from your company. You have recorded the advertising dollars, number of clients, and the quarter. You would like to use those variables to build a model to predict the sales for the month.</a:t>
            </a:r>
          </a:p>
          <a:p>
            <a:pPr lvl="1"/>
            <a:r>
              <a:rPr lang="en-US" b="1" i="0" dirty="0"/>
              <a:t>PREDICTION</a:t>
            </a:r>
            <a:r>
              <a:rPr lang="en-US" i="0" dirty="0"/>
              <a:t>: For the next month, you anticipate spending $1000 on advertising, having 4 clients, and it is the quarter 1. </a:t>
            </a:r>
            <a:r>
              <a:rPr lang="en-US" dirty="0"/>
              <a:t>What do you predict that month’s sales to be?</a:t>
            </a:r>
          </a:p>
          <a:p>
            <a:pPr lvl="1"/>
            <a:r>
              <a:rPr lang="en-US" b="1" i="0" dirty="0"/>
              <a:t>ESTIMATION</a:t>
            </a:r>
            <a:r>
              <a:rPr lang="en-US" i="0" dirty="0"/>
              <a:t>: Several months have an anticipated budget of $1000 for advertising, 4 clients, and quarter 1. </a:t>
            </a:r>
            <a:r>
              <a:rPr lang="en-US" dirty="0"/>
              <a:t>What are the estimated average sales for those months?</a:t>
            </a:r>
          </a:p>
          <a:p>
            <a:endParaRPr lang="en-US" dirty="0"/>
          </a:p>
        </p:txBody>
      </p:sp>
      <p:pic>
        <p:nvPicPr>
          <p:cNvPr id="5" name="Graphic 4" descr="Upward trend">
            <a:extLst>
              <a:ext uri="{FF2B5EF4-FFF2-40B4-BE49-F238E27FC236}">
                <a16:creationId xmlns:a16="http://schemas.microsoft.com/office/drawing/2014/main" id="{D5544967-BED8-F940-AB5C-4510E04C08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67812" y="0"/>
            <a:ext cx="2447925" cy="2447925"/>
          </a:xfrm>
          <a:prstGeom prst="rect">
            <a:avLst/>
          </a:prstGeom>
        </p:spPr>
      </p:pic>
    </p:spTree>
    <p:extLst>
      <p:ext uri="{BB962C8B-B14F-4D97-AF65-F5344CB8AC3E}">
        <p14:creationId xmlns:p14="http://schemas.microsoft.com/office/powerpoint/2010/main" val="2496700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2816B-20DF-8347-BDF6-E38C9850987E}"/>
              </a:ext>
            </a:extLst>
          </p:cNvPr>
          <p:cNvSpPr>
            <a:spLocks noGrp="1"/>
          </p:cNvSpPr>
          <p:nvPr>
            <p:ph type="title"/>
          </p:nvPr>
        </p:nvSpPr>
        <p:spPr/>
        <p:txBody>
          <a:bodyPr>
            <a:normAutofit fontScale="90000"/>
          </a:bodyPr>
          <a:lstStyle/>
          <a:p>
            <a:r>
              <a:rPr lang="en-US" dirty="0"/>
              <a:t>Writing the model: </a:t>
            </a:r>
            <a:r>
              <a:rPr lang="en-US" sz="3100" dirty="0"/>
              <a:t>Before you write you model, you should decide: is your goal PREDICTION or ESTIMATION?</a:t>
            </a:r>
            <a:br>
              <a:rPr lang="en-US"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32442E-1DDA-9742-9363-5E3EEF1DB0CE}"/>
                  </a:ext>
                </a:extLst>
              </p:cNvPr>
              <p:cNvSpPr>
                <a:spLocks noGrp="1"/>
              </p:cNvSpPr>
              <p:nvPr>
                <p:ph idx="1"/>
              </p:nvPr>
            </p:nvSpPr>
            <p:spPr>
              <a:xfrm>
                <a:off x="1371600" y="2285999"/>
                <a:ext cx="9601200" cy="4257675"/>
              </a:xfrm>
            </p:spPr>
            <p:txBody>
              <a:bodyPr/>
              <a:lstStyle/>
              <a:p>
                <a:pPr lvl="0"/>
                <a:r>
                  <a:rPr lang="en-US" b="1" dirty="0"/>
                  <a:t>PREDICTION</a:t>
                </a:r>
                <a:r>
                  <a:rPr lang="en-US" dirty="0"/>
                  <a:t>: the goal is to model the relationship between a single subject’s response and a given set of predictors. This is no different than the model we have been using so far.</a:t>
                </a:r>
              </a:p>
              <a:p>
                <a:pPr lvl="1"/>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𝑦</m:t>
                        </m:r>
                      </m:e>
                      <m:sub>
                        <m:r>
                          <a:rPr lang="en-US">
                            <a:latin typeface="Cambria Math" panose="02040503050406030204" pitchFamily="18" charset="0"/>
                          </a:rPr>
                          <m:t>𝑖</m:t>
                        </m:r>
                      </m:sub>
                    </m:sSub>
                    <m:r>
                      <a:rPr lang="en-US">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𝟎</m:t>
                        </m:r>
                      </m:sub>
                    </m:sSub>
                    <m:r>
                      <a:rPr lang="en-US" b="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𝟏</m:t>
                        </m:r>
                      </m:sub>
                    </m:sSub>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𝟏</m:t>
                        </m:r>
                      </m:sub>
                    </m:sSub>
                    <m:r>
                      <a:rPr lang="en-US" b="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𝟐</m:t>
                        </m:r>
                      </m:sub>
                    </m:sSub>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𝟐</m:t>
                        </m:r>
                      </m:sub>
                    </m:sSub>
                    <m:r>
                      <a:rPr lang="en-US" b="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𝜷</m:t>
                        </m:r>
                      </m:e>
                      <m:sub>
                        <m:r>
                          <a:rPr lang="en-US" b="1" i="1">
                            <a:latin typeface="Cambria Math" panose="02040503050406030204" pitchFamily="18" charset="0"/>
                          </a:rPr>
                          <m:t>𝒌</m:t>
                        </m:r>
                      </m:sub>
                    </m:sSub>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𝒌</m:t>
                        </m:r>
                      </m:sub>
                    </m:sSub>
                    <m:r>
                      <a:rPr lang="en-US" b="1">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𝜀</m:t>
                        </m:r>
                      </m:e>
                      <m:sub>
                        <m:r>
                          <a:rPr lang="en-US">
                            <a:latin typeface="Cambria Math" panose="02040503050406030204" pitchFamily="18" charset="0"/>
                          </a:rPr>
                          <m:t>𝑖</m:t>
                        </m:r>
                      </m:sub>
                    </m:sSub>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𝑦</m:t>
                        </m:r>
                      </m:e>
                      <m:sub>
                        <m:r>
                          <a:rPr lang="en-US">
                            <a:latin typeface="Cambria Math" panose="02040503050406030204" pitchFamily="18" charset="0"/>
                          </a:rPr>
                          <m:t>𝑖</m:t>
                        </m:r>
                      </m:sub>
                    </m:sSub>
                    <m:r>
                      <a:rPr lang="en-US">
                        <a:latin typeface="Cambria Math" panose="02040503050406030204" pitchFamily="18" charset="0"/>
                      </a:rPr>
                      <m:t>=</m:t>
                    </m:r>
                    <m:r>
                      <a:rPr lang="en-US" b="1" i="1">
                        <a:latin typeface="Cambria Math" panose="02040503050406030204" pitchFamily="18" charset="0"/>
                      </a:rPr>
                      <m:t>𝐭𝐡𝐞</m:t>
                    </m:r>
                    <m:r>
                      <a:rPr lang="en-US" b="1">
                        <a:latin typeface="Cambria Math" panose="02040503050406030204" pitchFamily="18" charset="0"/>
                      </a:rPr>
                      <m:t> </m:t>
                    </m:r>
                    <m:r>
                      <a:rPr lang="en-US" b="1" i="1" smtClean="0">
                        <a:latin typeface="Cambria Math" panose="02040503050406030204" pitchFamily="18" charset="0"/>
                      </a:rPr>
                      <m:t>𝒂𝒗𝒆𝒓𝒂𝒈𝒆</m:t>
                    </m:r>
                    <m:r>
                      <a:rPr lang="en-US" b="1">
                        <a:latin typeface="Cambria Math" panose="02040503050406030204" pitchFamily="18" charset="0"/>
                      </a:rPr>
                      <m:t> </m:t>
                    </m:r>
                    <m:r>
                      <a:rPr lang="en-US" b="1" i="1">
                        <a:latin typeface="Cambria Math" panose="02040503050406030204" pitchFamily="18" charset="0"/>
                      </a:rPr>
                      <m:t>𝐯𝐚𝐥𝐮𝐞</m:t>
                    </m:r>
                    <m:r>
                      <a:rPr lang="en-US" b="1">
                        <a:latin typeface="Cambria Math" panose="02040503050406030204" pitchFamily="18" charset="0"/>
                      </a:rPr>
                      <m:t> </m:t>
                    </m:r>
                    <m:r>
                      <a:rPr lang="en-US" b="1" i="1">
                        <a:latin typeface="Cambria Math" panose="02040503050406030204" pitchFamily="18" charset="0"/>
                      </a:rPr>
                      <m:t>𝐨𝐟</m:t>
                    </m:r>
                    <m:r>
                      <a:rPr lang="en-US" b="1">
                        <a:latin typeface="Cambria Math" panose="02040503050406030204" pitchFamily="18" charset="0"/>
                      </a:rPr>
                      <m:t> </m:t>
                    </m:r>
                    <m:r>
                      <a:rPr lang="en-US" b="1" i="1">
                        <a:latin typeface="Cambria Math" panose="02040503050406030204" pitchFamily="18" charset="0"/>
                      </a:rPr>
                      <m:t>𝐲</m:t>
                    </m:r>
                    <m:r>
                      <a:rPr lang="en-US" b="1">
                        <a:latin typeface="Cambria Math" panose="02040503050406030204" pitchFamily="18" charset="0"/>
                      </a:rPr>
                      <m:t> </m:t>
                    </m:r>
                    <m:r>
                      <a:rPr lang="en-US" b="1" i="1">
                        <a:latin typeface="Cambria Math" panose="02040503050406030204" pitchFamily="18" charset="0"/>
                      </a:rPr>
                      <m:t>𝐠𝐢𝐯𝐞𝐧</m:t>
                    </m:r>
                    <m:r>
                      <a:rPr lang="en-US" b="1">
                        <a:latin typeface="Cambria Math" panose="02040503050406030204" pitchFamily="18" charset="0"/>
                      </a:rPr>
                      <m:t> </m:t>
                    </m:r>
                    <m:r>
                      <a:rPr lang="en-US" b="1" i="1">
                        <a:latin typeface="Cambria Math" panose="02040503050406030204" pitchFamily="18" charset="0"/>
                      </a:rPr>
                      <m:t>𝐚</m:t>
                    </m:r>
                    <m:r>
                      <a:rPr lang="en-US" b="1">
                        <a:latin typeface="Cambria Math" panose="02040503050406030204" pitchFamily="18" charset="0"/>
                      </a:rPr>
                      <m:t> </m:t>
                    </m:r>
                    <m:r>
                      <a:rPr lang="en-US" b="1" i="1">
                        <a:latin typeface="Cambria Math" panose="02040503050406030204" pitchFamily="18" charset="0"/>
                      </a:rPr>
                      <m:t>𝐬𝐞𝐭</m:t>
                    </m:r>
                    <m:r>
                      <a:rPr lang="en-US" b="1">
                        <a:latin typeface="Cambria Math" panose="02040503050406030204" pitchFamily="18" charset="0"/>
                      </a:rPr>
                      <m:t> </m:t>
                    </m:r>
                    <m:r>
                      <a:rPr lang="en-US" b="1" i="1">
                        <a:latin typeface="Cambria Math" panose="02040503050406030204" pitchFamily="18" charset="0"/>
                      </a:rPr>
                      <m:t>𝐨𝐟</m:t>
                    </m:r>
                    <m:r>
                      <a:rPr lang="en-US" b="1">
                        <a:latin typeface="Cambria Math" panose="02040503050406030204" pitchFamily="18" charset="0"/>
                      </a:rPr>
                      <m:t> </m:t>
                    </m:r>
                    <m:r>
                      <a:rPr lang="en-US" b="1" i="1">
                        <a:latin typeface="Cambria Math" panose="02040503050406030204" pitchFamily="18" charset="0"/>
                      </a:rPr>
                      <m:t>𝐱</m:t>
                    </m:r>
                    <m:r>
                      <a:rPr lang="en-US" b="1">
                        <a:latin typeface="Cambria Math" panose="02040503050406030204" pitchFamily="18" charset="0"/>
                      </a:rPr>
                      <m:t>′</m:t>
                    </m:r>
                    <m:r>
                      <a:rPr lang="en-US" b="1" i="1">
                        <a:latin typeface="Cambria Math" panose="02040503050406030204" pitchFamily="18" charset="0"/>
                      </a:rPr>
                      <m:t>𝐬</m:t>
                    </m:r>
                    <m:r>
                      <a:rPr lang="en-US">
                        <a:latin typeface="Cambria Math" panose="02040503050406030204" pitchFamily="18" charset="0"/>
                      </a:rPr>
                      <m:t>+</m:t>
                    </m:r>
                    <m:r>
                      <a:rPr lang="en-US">
                        <a:latin typeface="Cambria Math" panose="02040503050406030204" pitchFamily="18" charset="0"/>
                      </a:rPr>
                      <m:t>𝑟𝑎𝑛𝑑𝑜𝑚</m:t>
                    </m:r>
                    <m:r>
                      <a:rPr lang="en-US">
                        <a:latin typeface="Cambria Math" panose="02040503050406030204" pitchFamily="18" charset="0"/>
                      </a:rPr>
                      <m:t> </m:t>
                    </m:r>
                    <m:r>
                      <a:rPr lang="en-US">
                        <a:latin typeface="Cambria Math" panose="02040503050406030204" pitchFamily="18" charset="0"/>
                      </a:rPr>
                      <m:t>𝑒𝑟𝑟𝑜𝑟</m:t>
                    </m:r>
                  </m:oMath>
                </a14:m>
                <a:endParaRPr lang="en-US" dirty="0"/>
              </a:p>
              <a:p>
                <a:pPr marL="0" indent="0">
                  <a:buNone/>
                </a:pPr>
                <a:endParaRPr lang="en-US" dirty="0"/>
              </a:p>
              <a:p>
                <a:pPr lvl="0"/>
                <a:r>
                  <a:rPr lang="en-US" b="1" dirty="0"/>
                  <a:t>ESTIMATION</a:t>
                </a:r>
                <a:r>
                  <a:rPr lang="en-US" dirty="0"/>
                  <a:t>: the goal is to model the relationship between a group of subjects response, given they have the same set of predictors. This will be the average value of y (E(y)) that is our “surface of means”.</a:t>
                </a:r>
                <a:r>
                  <a:rPr lang="en-US" dirty="0">
                    <a:effectLst/>
                  </a:rPr>
                  <a:t> </a:t>
                </a:r>
                <a:endParaRPr lang="en-US" dirty="0">
                  <a:latin typeface="Cambria Math" panose="02040503050406030204" pitchFamily="18" charset="0"/>
                </a:endParaRPr>
              </a:p>
              <a:p>
                <a:pPr lvl="1"/>
                <a14:m>
                  <m:oMath xmlns:m="http://schemas.openxmlformats.org/officeDocument/2006/math">
                    <m:r>
                      <a:rPr lang="en-US">
                        <a:latin typeface="Cambria Math" panose="02040503050406030204" pitchFamily="18" charset="0"/>
                      </a:rPr>
                      <m:t>𝐸</m:t>
                    </m:r>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𝑦</m:t>
                        </m:r>
                      </m:e>
                      <m:sub>
                        <m:r>
                          <a:rPr lang="en-US">
                            <a:latin typeface="Cambria Math" panose="02040503050406030204" pitchFamily="18" charset="0"/>
                          </a:rPr>
                          <m:t>𝑖</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a:latin typeface="Cambria Math" panose="02040503050406030204" pitchFamily="18" charset="0"/>
                          </a:rPr>
                          <m:t>0</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a:latin typeface="Cambria Math" panose="02040503050406030204" pitchFamily="18" charset="0"/>
                          </a:rPr>
                          <m:t>1</m:t>
                        </m:r>
                      </m:sub>
                    </m:sSub>
                    <m:sSub>
                      <m:sSubPr>
                        <m:ctrlPr>
                          <a:rPr lang="en-US" i="1">
                            <a:latin typeface="Cambria Math" panose="02040503050406030204" pitchFamily="18" charset="0"/>
                          </a:rPr>
                        </m:ctrlPr>
                      </m:sSubPr>
                      <m:e>
                        <m:r>
                          <a:rPr lang="en-US">
                            <a:latin typeface="Cambria Math" panose="02040503050406030204" pitchFamily="18" charset="0"/>
                          </a:rPr>
                          <m:t>𝑥</m:t>
                        </m:r>
                      </m:e>
                      <m:sub>
                        <m:r>
                          <a:rPr lang="en-US">
                            <a:latin typeface="Cambria Math" panose="02040503050406030204" pitchFamily="18" charset="0"/>
                          </a:rPr>
                          <m:t>1</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a:latin typeface="Cambria Math" panose="02040503050406030204" pitchFamily="18" charset="0"/>
                          </a:rPr>
                          <m:t>2</m:t>
                        </m:r>
                      </m:sub>
                    </m:sSub>
                    <m:sSub>
                      <m:sSubPr>
                        <m:ctrlPr>
                          <a:rPr lang="en-US" i="1">
                            <a:latin typeface="Cambria Math" panose="02040503050406030204" pitchFamily="18" charset="0"/>
                          </a:rPr>
                        </m:ctrlPr>
                      </m:sSubPr>
                      <m:e>
                        <m:r>
                          <a:rPr lang="en-US">
                            <a:latin typeface="Cambria Math" panose="02040503050406030204" pitchFamily="18" charset="0"/>
                          </a:rPr>
                          <m:t>𝑥</m:t>
                        </m:r>
                      </m:e>
                      <m:sub>
                        <m:r>
                          <a:rPr lang="en-US">
                            <a:latin typeface="Cambria Math" panose="02040503050406030204" pitchFamily="18" charset="0"/>
                          </a:rPr>
                          <m:t>2</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𝛽</m:t>
                        </m:r>
                      </m:e>
                      <m:sub>
                        <m:r>
                          <a:rPr lang="en-US">
                            <a:latin typeface="Cambria Math" panose="02040503050406030204" pitchFamily="18" charset="0"/>
                          </a:rPr>
                          <m:t>𝑘</m:t>
                        </m:r>
                      </m:sub>
                    </m:sSub>
                    <m:sSub>
                      <m:sSubPr>
                        <m:ctrlPr>
                          <a:rPr lang="en-US" i="1">
                            <a:latin typeface="Cambria Math" panose="02040503050406030204" pitchFamily="18" charset="0"/>
                          </a:rPr>
                        </m:ctrlPr>
                      </m:sSubPr>
                      <m:e>
                        <m:r>
                          <a:rPr lang="en-US">
                            <a:latin typeface="Cambria Math" panose="02040503050406030204" pitchFamily="18" charset="0"/>
                          </a:rPr>
                          <m:t>𝑥</m:t>
                        </m:r>
                      </m:e>
                      <m:sub>
                        <m:r>
                          <a:rPr lang="en-US">
                            <a:latin typeface="Cambria Math" panose="02040503050406030204" pitchFamily="18" charset="0"/>
                          </a:rPr>
                          <m:t>𝑘</m:t>
                        </m:r>
                      </m:sub>
                    </m:sSub>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𝐸</m:t>
                        </m:r>
                        <m:r>
                          <a:rPr lang="en-US">
                            <a:latin typeface="Cambria Math" panose="02040503050406030204" pitchFamily="18" charset="0"/>
                          </a:rPr>
                          <m:t>(</m:t>
                        </m:r>
                        <m:r>
                          <a:rPr lang="en-US">
                            <a:latin typeface="Cambria Math" panose="02040503050406030204" pitchFamily="18" charset="0"/>
                          </a:rPr>
                          <m:t>𝑦</m:t>
                        </m:r>
                      </m:e>
                      <m:sub>
                        <m:r>
                          <a:rPr lang="en-US">
                            <a:latin typeface="Cambria Math" panose="02040503050406030204" pitchFamily="18" charset="0"/>
                          </a:rPr>
                          <m:t>𝑖</m:t>
                        </m:r>
                      </m:sub>
                    </m:sSub>
                    <m:r>
                      <a:rPr lang="en-US">
                        <a:latin typeface="Cambria Math" panose="02040503050406030204" pitchFamily="18" charset="0"/>
                      </a:rPr>
                      <m:t>)=</m:t>
                    </m:r>
                    <m:r>
                      <a:rPr lang="en-US">
                        <a:latin typeface="Cambria Math" panose="02040503050406030204" pitchFamily="18" charset="0"/>
                      </a:rPr>
                      <m:t>𝑡h𝑒</m:t>
                    </m:r>
                    <m:r>
                      <a:rPr lang="en-US">
                        <a:latin typeface="Cambria Math" panose="02040503050406030204" pitchFamily="18" charset="0"/>
                      </a:rPr>
                      <m:t> </m:t>
                    </m:r>
                    <m:r>
                      <a:rPr lang="en-US">
                        <a:latin typeface="Cambria Math" panose="02040503050406030204" pitchFamily="18" charset="0"/>
                      </a:rPr>
                      <m:t>𝑎𝑣𝑒𝑟𝑎𝑔𝑒</m:t>
                    </m:r>
                    <m:r>
                      <a:rPr lang="en-US">
                        <a:latin typeface="Cambria Math" panose="02040503050406030204" pitchFamily="18" charset="0"/>
                      </a:rPr>
                      <m:t> </m:t>
                    </m:r>
                    <m:r>
                      <a:rPr lang="en-US">
                        <a:latin typeface="Cambria Math" panose="02040503050406030204" pitchFamily="18" charset="0"/>
                      </a:rPr>
                      <m:t>𝑣𝑎𝑙𝑢𝑒</m:t>
                    </m:r>
                    <m:r>
                      <a:rPr lang="en-US">
                        <a:latin typeface="Cambria Math" panose="02040503050406030204" pitchFamily="18" charset="0"/>
                      </a:rPr>
                      <m:t> </m:t>
                    </m:r>
                    <m:r>
                      <a:rPr lang="en-US">
                        <a:latin typeface="Cambria Math" panose="02040503050406030204" pitchFamily="18" charset="0"/>
                      </a:rPr>
                      <m:t>𝑜𝑓</m:t>
                    </m:r>
                    <m:r>
                      <a:rPr lang="en-US">
                        <a:latin typeface="Cambria Math" panose="02040503050406030204" pitchFamily="18" charset="0"/>
                      </a:rPr>
                      <m:t> </m:t>
                    </m:r>
                    <m:r>
                      <a:rPr lang="en-US">
                        <a:latin typeface="Cambria Math" panose="02040503050406030204" pitchFamily="18" charset="0"/>
                      </a:rPr>
                      <m:t>𝑦</m:t>
                    </m:r>
                    <m:r>
                      <a:rPr lang="en-US">
                        <a:latin typeface="Cambria Math" panose="02040503050406030204" pitchFamily="18" charset="0"/>
                      </a:rPr>
                      <m:t> </m:t>
                    </m:r>
                    <m:r>
                      <a:rPr lang="en-US">
                        <a:latin typeface="Cambria Math" panose="02040503050406030204" pitchFamily="18" charset="0"/>
                      </a:rPr>
                      <m:t>𝑔𝑖𝑣𝑒𝑛</m:t>
                    </m:r>
                    <m:r>
                      <a:rPr lang="en-US">
                        <a:latin typeface="Cambria Math" panose="02040503050406030204" pitchFamily="18" charset="0"/>
                      </a:rPr>
                      <m:t> </m:t>
                    </m:r>
                    <m:r>
                      <a:rPr lang="en-US">
                        <a:latin typeface="Cambria Math" panose="02040503050406030204" pitchFamily="18" charset="0"/>
                      </a:rPr>
                      <m:t>𝑎</m:t>
                    </m:r>
                    <m:r>
                      <a:rPr lang="en-US">
                        <a:latin typeface="Cambria Math" panose="02040503050406030204" pitchFamily="18" charset="0"/>
                      </a:rPr>
                      <m:t> </m:t>
                    </m:r>
                    <m:r>
                      <a:rPr lang="en-US">
                        <a:latin typeface="Cambria Math" panose="02040503050406030204" pitchFamily="18" charset="0"/>
                      </a:rPr>
                      <m:t>𝑠𝑒𝑡</m:t>
                    </m:r>
                    <m:r>
                      <a:rPr lang="en-US">
                        <a:latin typeface="Cambria Math" panose="02040503050406030204" pitchFamily="18" charset="0"/>
                      </a:rPr>
                      <m:t> </m:t>
                    </m:r>
                    <m:r>
                      <a:rPr lang="en-US">
                        <a:latin typeface="Cambria Math" panose="02040503050406030204" pitchFamily="18" charset="0"/>
                      </a:rPr>
                      <m:t>𝑜𝑓</m:t>
                    </m:r>
                    <m:r>
                      <a:rPr lang="en-US">
                        <a:latin typeface="Cambria Math" panose="02040503050406030204" pitchFamily="18" charset="0"/>
                      </a:rPr>
                      <m:t> </m:t>
                    </m:r>
                    <m:r>
                      <a:rPr lang="en-US">
                        <a:latin typeface="Cambria Math" panose="02040503050406030204" pitchFamily="18" charset="0"/>
                      </a:rPr>
                      <m:t>𝑥</m:t>
                    </m:r>
                    <m:r>
                      <a:rPr lang="en-US">
                        <a:latin typeface="Cambria Math" panose="02040503050406030204" pitchFamily="18" charset="0"/>
                      </a:rPr>
                      <m:t>′</m:t>
                    </m:r>
                    <m:r>
                      <a:rPr lang="en-US">
                        <a:latin typeface="Cambria Math" panose="02040503050406030204" pitchFamily="18" charset="0"/>
                      </a:rPr>
                      <m:t>𝑠</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0232442E-1DDA-9742-9363-5E3EEF1DB0CE}"/>
                  </a:ext>
                </a:extLst>
              </p:cNvPr>
              <p:cNvSpPr>
                <a:spLocks noGrp="1" noRot="1" noChangeAspect="1" noMove="1" noResize="1" noEditPoints="1" noAdjustHandles="1" noChangeArrowheads="1" noChangeShapeType="1" noTextEdit="1"/>
              </p:cNvSpPr>
              <p:nvPr>
                <p:ph idx="1"/>
              </p:nvPr>
            </p:nvSpPr>
            <p:spPr>
              <a:xfrm>
                <a:off x="1371600" y="2285999"/>
                <a:ext cx="9601200" cy="4257675"/>
              </a:xfrm>
              <a:blipFill>
                <a:blip r:embed="rId2"/>
                <a:stretch>
                  <a:fillRect l="-661" t="-1190"/>
                </a:stretch>
              </a:blipFill>
            </p:spPr>
            <p:txBody>
              <a:bodyPr/>
              <a:lstStyle/>
              <a:p>
                <a:r>
                  <a:rPr lang="en-US">
                    <a:noFill/>
                  </a:rPr>
                  <a:t> </a:t>
                </a:r>
              </a:p>
            </p:txBody>
          </p:sp>
        </mc:Fallback>
      </mc:AlternateContent>
    </p:spTree>
    <p:extLst>
      <p:ext uri="{BB962C8B-B14F-4D97-AF65-F5344CB8AC3E}">
        <p14:creationId xmlns:p14="http://schemas.microsoft.com/office/powerpoint/2010/main" val="2860260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00746-DE96-1647-84FA-0CDD9CF7FCE2}"/>
              </a:ext>
            </a:extLst>
          </p:cNvPr>
          <p:cNvSpPr>
            <a:spLocks noGrp="1"/>
          </p:cNvSpPr>
          <p:nvPr>
            <p:ph type="title"/>
          </p:nvPr>
        </p:nvSpPr>
        <p:spPr/>
        <p:txBody>
          <a:bodyPr>
            <a:normAutofit fontScale="90000"/>
          </a:bodyPr>
          <a:lstStyle/>
          <a:p>
            <a:r>
              <a:rPr lang="en-US" b="1" dirty="0"/>
              <a:t>Writing the prediction equation: </a:t>
            </a:r>
            <a:r>
              <a:rPr lang="en-US" sz="3100" dirty="0"/>
              <a:t>Whether you intend to use your model for prediction OR estimation, you end up with the same prediction equation.</a:t>
            </a:r>
            <a:br>
              <a:rPr lang="en-US" sz="3600" dirty="0"/>
            </a:br>
            <a:br>
              <a:rPr lang="en-US" b="1" dirty="0"/>
            </a:b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597E4C-1905-004E-89B2-D209094A58C4}"/>
                  </a:ext>
                </a:extLst>
              </p:cNvPr>
              <p:cNvSpPr>
                <a:spLocks noGrp="1"/>
              </p:cNvSpPr>
              <p:nvPr>
                <p:ph idx="1"/>
              </p:nvPr>
            </p:nvSpPr>
            <p:spPr/>
            <p:txBody>
              <a:bodyPr/>
              <a:lstStyle/>
              <a:p>
                <a:pPr marL="0" indent="0">
                  <a:buNone/>
                </a:pPr>
                <a:endParaRPr lang="en-US" dirty="0"/>
              </a:p>
              <a:p>
                <a:pPr lvl="0"/>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acc>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e>
                    </m:acc>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e>
                    </m:acc>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2</m:t>
                            </m:r>
                          </m:sub>
                        </m:sSub>
                      </m:e>
                    </m:acc>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𝑘</m:t>
                            </m:r>
                          </m:sub>
                        </m:sSub>
                      </m:e>
                    </m:acc>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𝑘</m:t>
                        </m:r>
                      </m:sub>
                    </m:sSub>
                  </m:oMath>
                </a14:m>
                <a:endParaRPr lang="en-US" dirty="0"/>
              </a:p>
              <a:p>
                <a:pPr lvl="0"/>
                <a:r>
                  <a:rPr lang="en-US" dirty="0"/>
                  <a:t>Interpretation: </a:t>
                </a:r>
              </a:p>
              <a:p>
                <a:pPr lvl="1"/>
                <a:r>
                  <a:rPr lang="en-US" b="1" i="0" dirty="0"/>
                  <a:t>PREDICTION</a:t>
                </a:r>
                <a:r>
                  <a:rPr lang="en-US" i="0" dirty="0"/>
                  <a:t>: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m:rPr>
                                <m:sty m:val="p"/>
                              </m:rPr>
                              <a:rPr lang="en-US" i="0">
                                <a:latin typeface="Cambria Math" panose="02040503050406030204" pitchFamily="18" charset="0"/>
                              </a:rPr>
                              <m:t>y</m:t>
                            </m:r>
                          </m:e>
                          <m:sub>
                            <m:r>
                              <m:rPr>
                                <m:sty m:val="p"/>
                              </m:rPr>
                              <a:rPr lang="en-US" i="0">
                                <a:latin typeface="Cambria Math" panose="02040503050406030204" pitchFamily="18" charset="0"/>
                              </a:rPr>
                              <m:t>i</m:t>
                            </m:r>
                          </m:sub>
                        </m:sSub>
                      </m:e>
                    </m:acc>
                  </m:oMath>
                </a14:m>
                <a:r>
                  <a:rPr lang="en-US" i="0" dirty="0"/>
                  <a:t> is the predicted value for a single subject’s response (y) given a set of predictors </a:t>
                </a:r>
              </a:p>
              <a:p>
                <a:pPr lvl="1"/>
                <a:r>
                  <a:rPr lang="en-US" b="1" i="0" dirty="0"/>
                  <a:t>ESTIMATION</a:t>
                </a:r>
                <a:r>
                  <a:rPr lang="en-US" i="0" dirty="0"/>
                  <a:t> :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m:rPr>
                                <m:sty m:val="p"/>
                              </m:rPr>
                              <a:rPr lang="en-US" i="0">
                                <a:latin typeface="Cambria Math" panose="02040503050406030204" pitchFamily="18" charset="0"/>
                              </a:rPr>
                              <m:t>y</m:t>
                            </m:r>
                          </m:e>
                          <m:sub>
                            <m:r>
                              <m:rPr>
                                <m:sty m:val="p"/>
                              </m:rPr>
                              <a:rPr lang="en-US" i="0">
                                <a:latin typeface="Cambria Math" panose="02040503050406030204" pitchFamily="18" charset="0"/>
                              </a:rPr>
                              <m:t>i</m:t>
                            </m:r>
                          </m:sub>
                        </m:sSub>
                      </m:e>
                    </m:acc>
                  </m:oMath>
                </a14:m>
                <a:r>
                  <a:rPr lang="en-US" i="0" dirty="0"/>
                  <a:t> is the estimate of the true average value of y (E(y)) for a given set of predictors</a:t>
                </a:r>
              </a:p>
              <a:p>
                <a:endParaRPr lang="en-US" dirty="0"/>
              </a:p>
            </p:txBody>
          </p:sp>
        </mc:Choice>
        <mc:Fallback xmlns="">
          <p:sp>
            <p:nvSpPr>
              <p:cNvPr id="3" name="Content Placeholder 2">
                <a:extLst>
                  <a:ext uri="{FF2B5EF4-FFF2-40B4-BE49-F238E27FC236}">
                    <a16:creationId xmlns:a16="http://schemas.microsoft.com/office/drawing/2014/main" id="{8B597E4C-1905-004E-89B2-D209094A58C4}"/>
                  </a:ext>
                </a:extLst>
              </p:cNvPr>
              <p:cNvSpPr>
                <a:spLocks noGrp="1" noRot="1" noChangeAspect="1" noMove="1" noResize="1" noEditPoints="1" noAdjustHandles="1" noChangeArrowheads="1" noChangeShapeType="1" noTextEdit="1"/>
              </p:cNvSpPr>
              <p:nvPr>
                <p:ph idx="1"/>
              </p:nvPr>
            </p:nvSpPr>
            <p:spPr>
              <a:blipFill>
                <a:blip r:embed="rId2"/>
                <a:stretch>
                  <a:fillRect l="-661" r="-926"/>
                </a:stretch>
              </a:blipFill>
            </p:spPr>
            <p:txBody>
              <a:bodyPr/>
              <a:lstStyle/>
              <a:p>
                <a:r>
                  <a:rPr lang="en-US">
                    <a:noFill/>
                  </a:rPr>
                  <a:t> </a:t>
                </a:r>
              </a:p>
            </p:txBody>
          </p:sp>
        </mc:Fallback>
      </mc:AlternateContent>
    </p:spTree>
    <p:extLst>
      <p:ext uri="{BB962C8B-B14F-4D97-AF65-F5344CB8AC3E}">
        <p14:creationId xmlns:p14="http://schemas.microsoft.com/office/powerpoint/2010/main" val="289820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362118B-E3A0-7645-8704-D393DDDDF3EE}"/>
                  </a:ext>
                </a:extLst>
              </p:cNvPr>
              <p:cNvSpPr>
                <a:spLocks noGrp="1"/>
              </p:cNvSpPr>
              <p:nvPr>
                <p:ph type="title"/>
              </p:nvPr>
            </p:nvSpPr>
            <p:spPr/>
            <p:txBody>
              <a:bodyPr>
                <a:normAutofit fontScale="90000"/>
              </a:bodyPr>
              <a:lstStyle/>
              <a:p>
                <a:r>
                  <a:rPr lang="en-US" dirty="0"/>
                  <a:t>Intervals: </a:t>
                </a:r>
                <a:r>
                  <a:rPr lang="en-US" sz="2700" dirty="0"/>
                  <a:t>Remember y (the true realized value given a set of predictors) and E(y) (the true average value of y given a set of predictors) are UNKNOWN. </a:t>
                </a:r>
                <a14:m>
                  <m:oMath xmlns:m="http://schemas.openxmlformats.org/officeDocument/2006/math">
                    <m:acc>
                      <m:accPr>
                        <m:chr m:val="̂"/>
                        <m:ctrlPr>
                          <a:rPr lang="en-US" sz="2700" i="1">
                            <a:latin typeface="Cambria Math" panose="02040503050406030204" pitchFamily="18" charset="0"/>
                          </a:rPr>
                        </m:ctrlPr>
                      </m:accPr>
                      <m:e>
                        <m:sSub>
                          <m:sSubPr>
                            <m:ctrlPr>
                              <a:rPr lang="en-US" sz="2700" i="1">
                                <a:latin typeface="Cambria Math" panose="02040503050406030204" pitchFamily="18" charset="0"/>
                              </a:rPr>
                            </m:ctrlPr>
                          </m:sSubPr>
                          <m:e>
                            <m:r>
                              <a:rPr lang="en-US" sz="2700" i="1">
                                <a:latin typeface="Cambria Math" panose="02040503050406030204" pitchFamily="18" charset="0"/>
                              </a:rPr>
                              <m:t>𝑦</m:t>
                            </m:r>
                          </m:e>
                          <m:sub>
                            <m:r>
                              <a:rPr lang="en-US" sz="2700" i="1">
                                <a:latin typeface="Cambria Math" panose="02040503050406030204" pitchFamily="18" charset="0"/>
                              </a:rPr>
                              <m:t>𝑖</m:t>
                            </m:r>
                          </m:sub>
                        </m:sSub>
                      </m:e>
                    </m:acc>
                  </m:oMath>
                </a14:m>
                <a:r>
                  <a:rPr lang="en-US" sz="2700" dirty="0"/>
                  <a:t> is a point estimate for both of those values, but we would prefer to have an interval estimate for each.</a:t>
                </a:r>
                <a:br>
                  <a:rPr lang="en-US" dirty="0"/>
                </a:br>
                <a:endParaRPr lang="en-US" dirty="0"/>
              </a:p>
            </p:txBody>
          </p:sp>
        </mc:Choice>
        <mc:Fallback xmlns="">
          <p:sp>
            <p:nvSpPr>
              <p:cNvPr id="2" name="Title 1">
                <a:extLst>
                  <a:ext uri="{FF2B5EF4-FFF2-40B4-BE49-F238E27FC236}">
                    <a16:creationId xmlns:a16="http://schemas.microsoft.com/office/drawing/2014/main" id="{3362118B-E3A0-7645-8704-D393DDDDF3EE}"/>
                  </a:ext>
                </a:extLst>
              </p:cNvPr>
              <p:cNvSpPr>
                <a:spLocks noGrp="1" noRot="1" noChangeAspect="1" noMove="1" noResize="1" noEditPoints="1" noAdjustHandles="1" noChangeArrowheads="1" noChangeShapeType="1" noTextEdit="1"/>
              </p:cNvSpPr>
              <p:nvPr>
                <p:ph type="title"/>
              </p:nvPr>
            </p:nvSpPr>
            <p:spPr>
              <a:blipFill>
                <a:blip r:embed="rId2"/>
                <a:stretch>
                  <a:fillRect l="-2249" t="-11017" r="-397" b="-177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C21EA9-EE0A-EC42-83F5-866D9A6D41CF}"/>
                  </a:ext>
                </a:extLst>
              </p:cNvPr>
              <p:cNvSpPr>
                <a:spLocks noGrp="1"/>
              </p:cNvSpPr>
              <p:nvPr>
                <p:ph idx="1"/>
              </p:nvPr>
            </p:nvSpPr>
            <p:spPr>
              <a:xfrm>
                <a:off x="1371600" y="2505075"/>
                <a:ext cx="9601200" cy="3581400"/>
              </a:xfrm>
            </p:spPr>
            <p:txBody>
              <a:bodyPr>
                <a:normAutofit lnSpcReduction="10000"/>
              </a:bodyPr>
              <a:lstStyle/>
              <a:p>
                <a:pPr lvl="0"/>
                <a:r>
                  <a:rPr lang="en-US" b="1" dirty="0"/>
                  <a:t>PREDICTION INTERVAL</a:t>
                </a:r>
                <a:r>
                  <a:rPr lang="en-US" dirty="0"/>
                  <a:t>: A range of plausible values for an individual future value of y given a set of predictors.</a:t>
                </a:r>
              </a:p>
              <a:p>
                <a:pPr lvl="1"/>
                <a14:m>
                  <m:oMath xmlns:m="http://schemas.openxmlformats.org/officeDocument/2006/math">
                    <m:acc>
                      <m:accPr>
                        <m:chr m:val="̂"/>
                        <m:ctrlPr>
                          <a:rPr lang="en-US" i="1">
                            <a:latin typeface="Cambria Math" panose="02040503050406030204" pitchFamily="18" charset="0"/>
                          </a:rPr>
                        </m:ctrlPr>
                      </m:accPr>
                      <m:e>
                        <m:r>
                          <a:rPr lang="en-US">
                            <a:latin typeface="Cambria Math" panose="02040503050406030204" pitchFamily="18" charset="0"/>
                          </a:rPr>
                          <m:t>𝑦</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𝑡</m:t>
                        </m:r>
                      </m:e>
                      <m:sub>
                        <m:f>
                          <m:fPr>
                            <m:ctrlPr>
                              <a:rPr lang="en-US" i="1">
                                <a:latin typeface="Cambria Math" panose="02040503050406030204" pitchFamily="18" charset="0"/>
                              </a:rPr>
                            </m:ctrlPr>
                          </m:fPr>
                          <m:num>
                            <m:r>
                              <a:rPr lang="en-US">
                                <a:latin typeface="Cambria Math" panose="02040503050406030204" pitchFamily="18" charset="0"/>
                              </a:rPr>
                              <m:t>𝛼</m:t>
                            </m:r>
                          </m:num>
                          <m:den>
                            <m:r>
                              <a:rPr lang="en-US">
                                <a:latin typeface="Cambria Math" panose="02040503050406030204" pitchFamily="18" charset="0"/>
                              </a:rPr>
                              <m:t>2</m:t>
                            </m:r>
                          </m:den>
                        </m:f>
                        <m:r>
                          <a:rPr lang="en-US">
                            <a:latin typeface="Cambria Math" panose="02040503050406030204" pitchFamily="18" charset="0"/>
                          </a:rPr>
                          <m:t>,</m:t>
                        </m:r>
                        <m:r>
                          <a:rPr lang="en-US">
                            <a:latin typeface="Cambria Math" panose="02040503050406030204" pitchFamily="18" charset="0"/>
                          </a:rPr>
                          <m:t>𝑛</m:t>
                        </m:r>
                        <m:r>
                          <a:rPr lang="en-US">
                            <a:latin typeface="Cambria Math" panose="02040503050406030204" pitchFamily="18" charset="0"/>
                          </a:rPr>
                          <m:t>−</m:t>
                        </m:r>
                        <m:r>
                          <a:rPr lang="en-US">
                            <a:latin typeface="Cambria Math" panose="02040503050406030204" pitchFamily="18" charset="0"/>
                          </a:rPr>
                          <m:t>𝑘</m:t>
                        </m:r>
                        <m:r>
                          <a:rPr lang="en-US">
                            <a:latin typeface="Cambria Math" panose="02040503050406030204" pitchFamily="18" charset="0"/>
                          </a:rPr>
                          <m:t>−1</m:t>
                        </m:r>
                      </m:sub>
                    </m:sSub>
                    <m:rad>
                      <m:radPr>
                        <m:degHide m:val="on"/>
                        <m:ctrlPr>
                          <a:rPr lang="en-US" i="1">
                            <a:latin typeface="Cambria Math" panose="02040503050406030204" pitchFamily="18" charset="0"/>
                          </a:rPr>
                        </m:ctrlPr>
                      </m:radPr>
                      <m:deg/>
                      <m:e>
                        <m:r>
                          <a:rPr lang="en-US">
                            <a:latin typeface="Cambria Math" panose="02040503050406030204" pitchFamily="18" charset="0"/>
                          </a:rPr>
                          <m:t>𝑀𝑆𝐸</m:t>
                        </m:r>
                        <m:r>
                          <a:rPr lang="en-US">
                            <a:latin typeface="Cambria Math" panose="02040503050406030204" pitchFamily="18" charset="0"/>
                          </a:rPr>
                          <m:t>+</m:t>
                        </m:r>
                        <m:sSubSup>
                          <m:sSubSupPr>
                            <m:ctrlPr>
                              <a:rPr lang="en-US" i="1">
                                <a:latin typeface="Cambria Math" panose="02040503050406030204" pitchFamily="18" charset="0"/>
                              </a:rPr>
                            </m:ctrlPr>
                          </m:sSubSupPr>
                          <m:e>
                            <m:r>
                              <a:rPr lang="en-US">
                                <a:latin typeface="Cambria Math" panose="02040503050406030204" pitchFamily="18" charset="0"/>
                              </a:rPr>
                              <m:t>𝑠</m:t>
                            </m:r>
                          </m:e>
                          <m:sub>
                            <m:acc>
                              <m:accPr>
                                <m:chr m:val="̂"/>
                                <m:ctrlPr>
                                  <a:rPr lang="en-US" i="1">
                                    <a:latin typeface="Cambria Math" panose="02040503050406030204" pitchFamily="18" charset="0"/>
                                  </a:rPr>
                                </m:ctrlPr>
                              </m:accPr>
                              <m:e>
                                <m:r>
                                  <a:rPr lang="en-US">
                                    <a:latin typeface="Cambria Math" panose="02040503050406030204" pitchFamily="18" charset="0"/>
                                  </a:rPr>
                                  <m:t>𝑦</m:t>
                                </m:r>
                              </m:e>
                            </m:acc>
                          </m:sub>
                          <m:sup>
                            <m:r>
                              <a:rPr lang="en-US">
                                <a:latin typeface="Cambria Math" panose="02040503050406030204" pitchFamily="18" charset="0"/>
                              </a:rPr>
                              <m:t>2</m:t>
                            </m:r>
                          </m:sup>
                        </m:sSubSup>
                      </m:e>
                    </m:rad>
                  </m:oMath>
                </a14:m>
                <a:endParaRPr lang="en-US" dirty="0"/>
              </a:p>
              <a:p>
                <a:pPr lvl="0"/>
                <a:r>
                  <a:rPr lang="en-US" b="1" dirty="0"/>
                  <a:t>CONFIDENCE INTERVAL</a:t>
                </a:r>
                <a:r>
                  <a:rPr lang="en-US" dirty="0"/>
                  <a:t>: A range of plausible values for the true average value of y (E(y)) given a set of predictors.</a:t>
                </a:r>
              </a:p>
              <a:p>
                <a:pPr lvl="1"/>
                <a14:m>
                  <m:oMath xmlns:m="http://schemas.openxmlformats.org/officeDocument/2006/math">
                    <m:acc>
                      <m:accPr>
                        <m:chr m:val="̂"/>
                        <m:ctrlPr>
                          <a:rPr lang="en-US" i="1">
                            <a:latin typeface="Cambria Math" panose="02040503050406030204" pitchFamily="18" charset="0"/>
                          </a:rPr>
                        </m:ctrlPr>
                      </m:accPr>
                      <m:e>
                        <m:r>
                          <a:rPr lang="en-US">
                            <a:latin typeface="Cambria Math" panose="02040503050406030204" pitchFamily="18" charset="0"/>
                          </a:rPr>
                          <m:t>𝑦</m:t>
                        </m:r>
                      </m:e>
                    </m:acc>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𝑡</m:t>
                        </m:r>
                      </m:e>
                      <m:sub>
                        <m:f>
                          <m:fPr>
                            <m:ctrlPr>
                              <a:rPr lang="en-US" i="1">
                                <a:latin typeface="Cambria Math" panose="02040503050406030204" pitchFamily="18" charset="0"/>
                              </a:rPr>
                            </m:ctrlPr>
                          </m:fPr>
                          <m:num>
                            <m:r>
                              <a:rPr lang="en-US">
                                <a:latin typeface="Cambria Math" panose="02040503050406030204" pitchFamily="18" charset="0"/>
                              </a:rPr>
                              <m:t>𝛼</m:t>
                            </m:r>
                          </m:num>
                          <m:den>
                            <m:r>
                              <a:rPr lang="en-US">
                                <a:latin typeface="Cambria Math" panose="02040503050406030204" pitchFamily="18" charset="0"/>
                              </a:rPr>
                              <m:t>2</m:t>
                            </m:r>
                          </m:den>
                        </m:f>
                        <m:r>
                          <a:rPr lang="en-US">
                            <a:latin typeface="Cambria Math" panose="02040503050406030204" pitchFamily="18" charset="0"/>
                          </a:rPr>
                          <m:t>,</m:t>
                        </m:r>
                        <m:r>
                          <a:rPr lang="en-US">
                            <a:latin typeface="Cambria Math" panose="02040503050406030204" pitchFamily="18" charset="0"/>
                          </a:rPr>
                          <m:t>𝑛</m:t>
                        </m:r>
                        <m:r>
                          <a:rPr lang="en-US">
                            <a:latin typeface="Cambria Math" panose="02040503050406030204" pitchFamily="18" charset="0"/>
                          </a:rPr>
                          <m:t>−</m:t>
                        </m:r>
                        <m:r>
                          <a:rPr lang="en-US">
                            <a:latin typeface="Cambria Math" panose="02040503050406030204" pitchFamily="18" charset="0"/>
                          </a:rPr>
                          <m:t>𝑘</m:t>
                        </m:r>
                        <m:r>
                          <a:rPr lang="en-US">
                            <a:latin typeface="Cambria Math" panose="02040503050406030204" pitchFamily="18" charset="0"/>
                          </a:rPr>
                          <m:t>−1</m:t>
                        </m:r>
                      </m:sub>
                    </m:sSub>
                    <m:sSub>
                      <m:sSubPr>
                        <m:ctrlPr>
                          <a:rPr lang="en-US" i="1">
                            <a:latin typeface="Cambria Math" panose="02040503050406030204" pitchFamily="18" charset="0"/>
                          </a:rPr>
                        </m:ctrlPr>
                      </m:sSubPr>
                      <m:e>
                        <m:r>
                          <a:rPr lang="en-US">
                            <a:latin typeface="Cambria Math" panose="02040503050406030204" pitchFamily="18" charset="0"/>
                          </a:rPr>
                          <m:t>𝑠</m:t>
                        </m:r>
                      </m:e>
                      <m:sub>
                        <m:acc>
                          <m:accPr>
                            <m:chr m:val="̂"/>
                            <m:ctrlPr>
                              <a:rPr lang="en-US" i="1">
                                <a:latin typeface="Cambria Math" panose="02040503050406030204" pitchFamily="18" charset="0"/>
                              </a:rPr>
                            </m:ctrlPr>
                          </m:accPr>
                          <m:e>
                            <m:r>
                              <a:rPr lang="en-US">
                                <a:latin typeface="Cambria Math" panose="02040503050406030204" pitchFamily="18" charset="0"/>
                              </a:rPr>
                              <m:t>𝑦</m:t>
                            </m:r>
                          </m:e>
                        </m:acc>
                      </m:sub>
                    </m:sSub>
                  </m:oMath>
                </a14:m>
                <a:endParaRPr lang="en-US" dirty="0"/>
              </a:p>
              <a:p>
                <a:pPr lvl="0"/>
                <a:r>
                  <a:rPr lang="en-US" u="sng" dirty="0"/>
                  <a:t>Comparing the intervals:</a:t>
                </a:r>
                <a:r>
                  <a:rPr lang="en-US" dirty="0"/>
                  <a:t> Given the same set of predictors, a prediction interval will always be WIDER than a confidence interval, because there is more variability in predicting a single observation versus an average.</a:t>
                </a:r>
              </a:p>
              <a:p>
                <a:endParaRPr lang="en-US" dirty="0"/>
              </a:p>
            </p:txBody>
          </p:sp>
        </mc:Choice>
        <mc:Fallback xmlns="">
          <p:sp>
            <p:nvSpPr>
              <p:cNvPr id="3" name="Content Placeholder 2">
                <a:extLst>
                  <a:ext uri="{FF2B5EF4-FFF2-40B4-BE49-F238E27FC236}">
                    <a16:creationId xmlns:a16="http://schemas.microsoft.com/office/drawing/2014/main" id="{AAC21EA9-EE0A-EC42-83F5-866D9A6D41CF}"/>
                  </a:ext>
                </a:extLst>
              </p:cNvPr>
              <p:cNvSpPr>
                <a:spLocks noGrp="1" noRot="1" noChangeAspect="1" noMove="1" noResize="1" noEditPoints="1" noAdjustHandles="1" noChangeArrowheads="1" noChangeShapeType="1" noTextEdit="1"/>
              </p:cNvSpPr>
              <p:nvPr>
                <p:ph idx="1"/>
              </p:nvPr>
            </p:nvSpPr>
            <p:spPr>
              <a:xfrm>
                <a:off x="1371600" y="2505075"/>
                <a:ext cx="9601200" cy="3581400"/>
              </a:xfrm>
              <a:blipFill>
                <a:blip r:embed="rId3"/>
                <a:stretch>
                  <a:fillRect l="-661" t="-1767" r="-926"/>
                </a:stretch>
              </a:blipFill>
            </p:spPr>
            <p:txBody>
              <a:bodyPr/>
              <a:lstStyle/>
              <a:p>
                <a:r>
                  <a:rPr lang="en-US">
                    <a:noFill/>
                  </a:rPr>
                  <a:t> </a:t>
                </a:r>
              </a:p>
            </p:txBody>
          </p:sp>
        </mc:Fallback>
      </mc:AlternateContent>
    </p:spTree>
    <p:extLst>
      <p:ext uri="{BB962C8B-B14F-4D97-AF65-F5344CB8AC3E}">
        <p14:creationId xmlns:p14="http://schemas.microsoft.com/office/powerpoint/2010/main" val="1178527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FBD8-8790-AD42-A3F3-6264EF15C0AC}"/>
              </a:ext>
            </a:extLst>
          </p:cNvPr>
          <p:cNvSpPr>
            <a:spLocks noGrp="1"/>
          </p:cNvSpPr>
          <p:nvPr>
            <p:ph type="title"/>
          </p:nvPr>
        </p:nvSpPr>
        <p:spPr/>
        <p:txBody>
          <a:bodyPr/>
          <a:lstStyle/>
          <a:p>
            <a:r>
              <a:rPr lang="en-US" dirty="0"/>
              <a:t>Example</a:t>
            </a:r>
          </a:p>
        </p:txBody>
      </p:sp>
      <p:sp>
        <p:nvSpPr>
          <p:cNvPr id="3" name="Text Placeholder 2">
            <a:extLst>
              <a:ext uri="{FF2B5EF4-FFF2-40B4-BE49-F238E27FC236}">
                <a16:creationId xmlns:a16="http://schemas.microsoft.com/office/drawing/2014/main" id="{961615E4-1C85-3F41-9B21-59B09D2ED46D}"/>
              </a:ext>
            </a:extLst>
          </p:cNvPr>
          <p:cNvSpPr>
            <a:spLocks noGrp="1"/>
          </p:cNvSpPr>
          <p:nvPr>
            <p:ph type="body" idx="1"/>
          </p:nvPr>
        </p:nvSpPr>
        <p:spPr/>
        <p:txBody>
          <a:bodyPr/>
          <a:lstStyle/>
          <a:p>
            <a:r>
              <a:rPr lang="en-US" dirty="0"/>
              <a:t>Earnings of Mexican Street Vendors</a:t>
            </a:r>
          </a:p>
        </p:txBody>
      </p:sp>
    </p:spTree>
    <p:extLst>
      <p:ext uri="{BB962C8B-B14F-4D97-AF65-F5344CB8AC3E}">
        <p14:creationId xmlns:p14="http://schemas.microsoft.com/office/powerpoint/2010/main" val="1330673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541FF0-E078-5248-A924-88B8FCDAA5CA}"/>
              </a:ext>
            </a:extLst>
          </p:cNvPr>
          <p:cNvSpPr>
            <a:spLocks noGrp="1"/>
          </p:cNvSpPr>
          <p:nvPr>
            <p:ph type="title"/>
          </p:nvPr>
        </p:nvSpPr>
        <p:spPr/>
        <p:txBody>
          <a:bodyPr>
            <a:normAutofit/>
          </a:bodyPr>
          <a:lstStyle/>
          <a:p>
            <a:r>
              <a:rPr lang="en-US" dirty="0"/>
              <a:t>Step 1: Background &amp; Data</a:t>
            </a:r>
            <a:br>
              <a:rPr lang="en-US" dirty="0"/>
            </a:br>
            <a:endParaRPr lang="en-US" dirty="0"/>
          </a:p>
        </p:txBody>
      </p:sp>
      <p:sp>
        <p:nvSpPr>
          <p:cNvPr id="5" name="Content Placeholder 4">
            <a:extLst>
              <a:ext uri="{FF2B5EF4-FFF2-40B4-BE49-F238E27FC236}">
                <a16:creationId xmlns:a16="http://schemas.microsoft.com/office/drawing/2014/main" id="{F28151F3-3731-2042-A415-85840E626DF2}"/>
              </a:ext>
            </a:extLst>
          </p:cNvPr>
          <p:cNvSpPr>
            <a:spLocks noGrp="1"/>
          </p:cNvSpPr>
          <p:nvPr>
            <p:ph idx="1"/>
          </p:nvPr>
        </p:nvSpPr>
        <p:spPr>
          <a:xfrm>
            <a:off x="1219200" y="1557339"/>
            <a:ext cx="9169706" cy="4829174"/>
          </a:xfrm>
        </p:spPr>
        <p:txBody>
          <a:bodyPr>
            <a:normAutofit/>
          </a:bodyPr>
          <a:lstStyle/>
          <a:p>
            <a:r>
              <a:rPr lang="en-US" dirty="0"/>
              <a:t>Detailed interviews were conducted with over 1,000 street vendors in the city of Puebla, Mexico, in order to study the factors influencing vendors’ incomes. Vendors were defined as individuals working in the street and included vendors with carts and stands on wheels and excluded beggars, drug dealers, and prostitutes. The researchers collected data on gender, age, hours worked per day, annual earnings, and education level. We have a sample of 15 vendors from this list and we will examine the following:</a:t>
            </a:r>
          </a:p>
          <a:p>
            <a:pPr lvl="1"/>
            <a:r>
              <a:rPr lang="en-US" dirty="0"/>
              <a:t>Annual Earnings (response, y)</a:t>
            </a:r>
          </a:p>
          <a:p>
            <a:pPr lvl="1"/>
            <a:r>
              <a:rPr lang="en-US" dirty="0"/>
              <a:t>Age (explanatory, x</a:t>
            </a:r>
            <a:r>
              <a:rPr lang="en-US" baseline="-25000" dirty="0"/>
              <a:t>1</a:t>
            </a:r>
            <a:r>
              <a:rPr lang="en-US" dirty="0"/>
              <a:t>)</a:t>
            </a:r>
          </a:p>
          <a:p>
            <a:pPr lvl="1"/>
            <a:r>
              <a:rPr lang="en-US" dirty="0"/>
              <a:t>Hours Worked Per Day (Explanatory, x</a:t>
            </a:r>
            <a:r>
              <a:rPr lang="en-US" baseline="-25000" dirty="0"/>
              <a:t>2</a:t>
            </a:r>
            <a:r>
              <a:rPr lang="en-US" dirty="0"/>
              <a:t>)</a:t>
            </a:r>
          </a:p>
        </p:txBody>
      </p:sp>
    </p:spTree>
    <p:extLst>
      <p:ext uri="{BB962C8B-B14F-4D97-AF65-F5344CB8AC3E}">
        <p14:creationId xmlns:p14="http://schemas.microsoft.com/office/powerpoint/2010/main" val="1449152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E9596-EDB5-4E48-B6F7-EDE57FEB5CB7}"/>
              </a:ext>
            </a:extLst>
          </p:cNvPr>
          <p:cNvSpPr>
            <a:spLocks noGrp="1"/>
          </p:cNvSpPr>
          <p:nvPr>
            <p:ph type="title"/>
          </p:nvPr>
        </p:nvSpPr>
        <p:spPr>
          <a:xfrm>
            <a:off x="1371600" y="685800"/>
            <a:ext cx="4854708" cy="1485900"/>
          </a:xfrm>
        </p:spPr>
        <p:txBody>
          <a:bodyPr>
            <a:normAutofit/>
          </a:bodyPr>
          <a:lstStyle/>
          <a:p>
            <a:r>
              <a:rPr lang="en-US" sz="3400" dirty="0"/>
              <a:t>Step 2-4: Reminder of model fit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DCB4DA-D298-7040-9AE1-0E03DB8D5766}"/>
                  </a:ext>
                </a:extLst>
              </p:cNvPr>
              <p:cNvSpPr>
                <a:spLocks noGrp="1"/>
              </p:cNvSpPr>
              <p:nvPr>
                <p:ph idx="1"/>
              </p:nvPr>
            </p:nvSpPr>
            <p:spPr>
              <a:xfrm>
                <a:off x="1371600" y="2286000"/>
                <a:ext cx="5740400" cy="4367048"/>
              </a:xfrm>
            </p:spPr>
            <p:txBody>
              <a:bodyPr>
                <a:normAutofit/>
              </a:bodyPr>
              <a:lstStyle/>
              <a:p>
                <a:pPr marL="0" indent="0">
                  <a:buNone/>
                </a:pPr>
                <a:r>
                  <a:rPr lang="en-US" sz="1600" u="sng" dirty="0"/>
                  <a:t>Model for prediction:</a:t>
                </a:r>
                <a:endParaRPr lang="en-US" sz="1600" i="1" u="sng"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1600" b="1" i="1" smtClean="0">
                              <a:latin typeface="Cambria Math" panose="02040503050406030204" pitchFamily="18" charset="0"/>
                            </a:rPr>
                          </m:ctrlPr>
                        </m:sSubPr>
                        <m:e>
                          <m:r>
                            <a:rPr lang="en-US" sz="1600" b="1" i="1">
                              <a:latin typeface="Cambria Math" panose="02040503050406030204" pitchFamily="18" charset="0"/>
                            </a:rPr>
                            <m:t>𝒚</m:t>
                          </m:r>
                        </m:e>
                        <m:sub>
                          <m:r>
                            <a:rPr lang="en-US" sz="1600" b="1" i="1">
                              <a:latin typeface="Cambria Math" panose="02040503050406030204" pitchFamily="18" charset="0"/>
                            </a:rPr>
                            <m:t>𝒊</m:t>
                          </m:r>
                        </m:sub>
                      </m:sSub>
                      <m:r>
                        <a:rPr lang="en-US" sz="1600" b="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𝟎</m:t>
                          </m:r>
                        </m:sub>
                      </m:sSub>
                      <m:r>
                        <a:rPr lang="en-US" sz="1600" b="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𝟏</m:t>
                          </m:r>
                        </m:sub>
                      </m:sSub>
                      <m:r>
                        <a:rPr lang="en-US" sz="1600" b="1" i="1">
                          <a:latin typeface="Cambria Math" panose="02040503050406030204" pitchFamily="18" charset="0"/>
                        </a:rPr>
                        <m:t>𝒉𝒐𝒖𝒓𝒔</m:t>
                      </m:r>
                      <m:r>
                        <a:rPr lang="en-US" sz="1600" b="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𝟐</m:t>
                          </m:r>
                        </m:sub>
                      </m:sSub>
                      <m:r>
                        <a:rPr lang="en-US" sz="1600" b="1" i="1">
                          <a:latin typeface="Cambria Math" panose="02040503050406030204" pitchFamily="18" charset="0"/>
                        </a:rPr>
                        <m:t>𝒂𝒈𝒆</m:t>
                      </m:r>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𝟑</m:t>
                          </m:r>
                        </m:sub>
                      </m:sSub>
                      <m:r>
                        <a:rPr lang="en-US" sz="1600" b="1" i="1">
                          <a:latin typeface="Cambria Math" panose="02040503050406030204" pitchFamily="18" charset="0"/>
                        </a:rPr>
                        <m:t>𝒂𝒈</m:t>
                      </m:r>
                      <m:sSup>
                        <m:sSupPr>
                          <m:ctrlPr>
                            <a:rPr lang="en-US" sz="1600" b="1" i="1">
                              <a:latin typeface="Cambria Math" panose="02040503050406030204" pitchFamily="18" charset="0"/>
                            </a:rPr>
                          </m:ctrlPr>
                        </m:sSupPr>
                        <m:e>
                          <m:r>
                            <a:rPr lang="en-US" sz="1600" b="1" i="1">
                              <a:latin typeface="Cambria Math" panose="02040503050406030204" pitchFamily="18" charset="0"/>
                            </a:rPr>
                            <m:t>𝒆</m:t>
                          </m:r>
                        </m:e>
                        <m:sup>
                          <m:r>
                            <a:rPr lang="en-US" sz="1600" b="1" i="1">
                              <a:latin typeface="Cambria Math" panose="02040503050406030204" pitchFamily="18" charset="0"/>
                            </a:rPr>
                            <m:t>𝟐</m:t>
                          </m:r>
                        </m:sup>
                      </m:sSup>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𝜺</m:t>
                          </m:r>
                        </m:e>
                        <m:sub>
                          <m:r>
                            <a:rPr lang="en-US" sz="1600" b="1" i="1">
                              <a:latin typeface="Cambria Math" panose="02040503050406030204" pitchFamily="18" charset="0"/>
                            </a:rPr>
                            <m:t>𝒊</m:t>
                          </m:r>
                        </m:sub>
                      </m:sSub>
                    </m:oMath>
                  </m:oMathPara>
                </a14:m>
                <a:endParaRPr lang="en-US" sz="1600" b="1" dirty="0"/>
              </a:p>
              <a:p>
                <a:pPr marL="0" indent="0">
                  <a:buNone/>
                </a:pPr>
                <a:endParaRPr lang="en-US" sz="1600" dirty="0"/>
              </a:p>
              <a:p>
                <a:pPr marL="0" indent="0">
                  <a:buNone/>
                </a:pPr>
                <a:r>
                  <a:rPr lang="en-US" sz="1600" u="sng" dirty="0"/>
                  <a:t>Model for estimation: </a:t>
                </a:r>
              </a:p>
              <a:p>
                <a:pPr marL="0" indent="0">
                  <a:buNone/>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𝑬</m:t>
                      </m:r>
                      <m:r>
                        <a:rPr lang="en-US" sz="1600" b="1" i="1" smtClean="0">
                          <a:latin typeface="Cambria Math" panose="02040503050406030204" pitchFamily="18" charset="0"/>
                        </a:rPr>
                        <m:t>(</m:t>
                      </m:r>
                      <m:sSub>
                        <m:sSubPr>
                          <m:ctrlPr>
                            <a:rPr lang="en-US" sz="1600" b="1" i="1" smtClean="0">
                              <a:latin typeface="Cambria Math" panose="02040503050406030204" pitchFamily="18" charset="0"/>
                            </a:rPr>
                          </m:ctrlPr>
                        </m:sSubPr>
                        <m:e>
                          <m:r>
                            <a:rPr lang="en-US" sz="1600" b="1" i="1">
                              <a:latin typeface="Cambria Math" panose="02040503050406030204" pitchFamily="18" charset="0"/>
                            </a:rPr>
                            <m:t>𝒚</m:t>
                          </m:r>
                        </m:e>
                        <m:sub>
                          <m:r>
                            <a:rPr lang="en-US" sz="1600" b="1" i="1">
                              <a:latin typeface="Cambria Math" panose="02040503050406030204" pitchFamily="18" charset="0"/>
                            </a:rPr>
                            <m:t>𝒊</m:t>
                          </m:r>
                        </m:sub>
                      </m:sSub>
                      <m:r>
                        <a:rPr lang="en-US" sz="1600" b="1" i="1" smtClean="0">
                          <a:latin typeface="Cambria Math" panose="02040503050406030204" pitchFamily="18" charset="0"/>
                        </a:rPr>
                        <m:t>)</m:t>
                      </m:r>
                      <m:r>
                        <a:rPr lang="en-US" sz="1600" b="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𝟎</m:t>
                          </m:r>
                        </m:sub>
                      </m:sSub>
                      <m:r>
                        <a:rPr lang="en-US" sz="1600" b="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𝟏</m:t>
                          </m:r>
                        </m:sub>
                      </m:sSub>
                      <m:r>
                        <a:rPr lang="en-US" sz="1600" b="1" i="1">
                          <a:latin typeface="Cambria Math" panose="02040503050406030204" pitchFamily="18" charset="0"/>
                        </a:rPr>
                        <m:t>𝒉𝒐𝒖𝒓𝒔</m:t>
                      </m:r>
                      <m:r>
                        <a:rPr lang="en-US" sz="1600" b="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𝟐</m:t>
                          </m:r>
                        </m:sub>
                      </m:sSub>
                      <m:r>
                        <a:rPr lang="en-US" sz="1600" b="1" i="1">
                          <a:latin typeface="Cambria Math" panose="02040503050406030204" pitchFamily="18" charset="0"/>
                        </a:rPr>
                        <m:t>𝒂𝒈𝒆</m:t>
                      </m:r>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𝟑</m:t>
                          </m:r>
                        </m:sub>
                      </m:sSub>
                      <m:r>
                        <a:rPr lang="en-US" sz="1600" b="1" i="1">
                          <a:latin typeface="Cambria Math" panose="02040503050406030204" pitchFamily="18" charset="0"/>
                        </a:rPr>
                        <m:t>𝒂𝒈</m:t>
                      </m:r>
                      <m:sSup>
                        <m:sSupPr>
                          <m:ctrlPr>
                            <a:rPr lang="en-US" sz="1600" b="1" i="1">
                              <a:latin typeface="Cambria Math" panose="02040503050406030204" pitchFamily="18" charset="0"/>
                            </a:rPr>
                          </m:ctrlPr>
                        </m:sSupPr>
                        <m:e>
                          <m:r>
                            <a:rPr lang="en-US" sz="1600" b="1" i="1">
                              <a:latin typeface="Cambria Math" panose="02040503050406030204" pitchFamily="18" charset="0"/>
                            </a:rPr>
                            <m:t>𝒆</m:t>
                          </m:r>
                        </m:e>
                        <m:sup>
                          <m:r>
                            <a:rPr lang="en-US" sz="1600" b="1" i="1">
                              <a:latin typeface="Cambria Math" panose="02040503050406030204" pitchFamily="18" charset="0"/>
                            </a:rPr>
                            <m:t>𝟐</m:t>
                          </m:r>
                        </m:sup>
                      </m:sSup>
                    </m:oMath>
                  </m:oMathPara>
                </a14:m>
                <a:endParaRPr lang="en-US" sz="1600" dirty="0"/>
              </a:p>
              <a:p>
                <a:pPr marL="0" indent="0">
                  <a:buNone/>
                </a:pPr>
                <a:endParaRPr lang="en-US" sz="1600" dirty="0"/>
              </a:p>
              <a:p>
                <a:pPr marL="0" indent="0">
                  <a:buNone/>
                </a:pPr>
                <a:r>
                  <a:rPr lang="en-US" sz="1600" u="sng" dirty="0"/>
                  <a:t>Prediction Equation (for both)</a:t>
                </a:r>
              </a:p>
              <a:p>
                <a:pPr marL="0" indent="0">
                  <a:buNone/>
                </a:pPr>
                <a14:m>
                  <m:oMathPara xmlns:m="http://schemas.openxmlformats.org/officeDocument/2006/math">
                    <m:oMathParaPr>
                      <m:jc m:val="centerGroup"/>
                    </m:oMathParaPr>
                    <m:oMath xmlns:m="http://schemas.openxmlformats.org/officeDocument/2006/math">
                      <m:acc>
                        <m:accPr>
                          <m:chr m:val="̂"/>
                          <m:ctrlPr>
                            <a:rPr lang="en-US" sz="1600" b="1" i="1" smtClean="0">
                              <a:latin typeface="Cambria Math" panose="02040503050406030204" pitchFamily="18" charset="0"/>
                            </a:rPr>
                          </m:ctrlPr>
                        </m:accPr>
                        <m:e>
                          <m:sSub>
                            <m:sSubPr>
                              <m:ctrlPr>
                                <a:rPr lang="en-US" sz="1600" b="1" i="1">
                                  <a:latin typeface="Cambria Math" panose="02040503050406030204" pitchFamily="18" charset="0"/>
                                </a:rPr>
                              </m:ctrlPr>
                            </m:sSubPr>
                            <m:e>
                              <m:r>
                                <a:rPr lang="en-US" sz="1600" b="1" i="1">
                                  <a:latin typeface="Cambria Math" panose="02040503050406030204" pitchFamily="18" charset="0"/>
                                </a:rPr>
                                <m:t>𝒚</m:t>
                              </m:r>
                            </m:e>
                            <m:sub>
                              <m:r>
                                <a:rPr lang="en-US" sz="1600" b="1" i="1">
                                  <a:latin typeface="Cambria Math" panose="02040503050406030204" pitchFamily="18" charset="0"/>
                                </a:rPr>
                                <m:t>𝒊</m:t>
                              </m:r>
                            </m:sub>
                          </m:sSub>
                        </m:e>
                      </m:acc>
                      <m:r>
                        <a:rPr lang="en-US" sz="1600" b="1" i="1">
                          <a:latin typeface="Cambria Math" panose="02040503050406030204" pitchFamily="18" charset="0"/>
                        </a:rPr>
                        <m:t>=</m:t>
                      </m:r>
                      <m:r>
                        <a:rPr lang="en-US" sz="1600" b="1" i="1" smtClean="0">
                          <a:latin typeface="Cambria Math" panose="02040503050406030204" pitchFamily="18" charset="0"/>
                        </a:rPr>
                        <m:t>−</m:t>
                      </m:r>
                      <m:r>
                        <a:rPr lang="en-US" sz="1600" b="1" i="1" smtClean="0">
                          <a:latin typeface="Cambria Math" panose="02040503050406030204" pitchFamily="18" charset="0"/>
                        </a:rPr>
                        <m:t>𝟕𝟕𝟓</m:t>
                      </m:r>
                      <m:r>
                        <a:rPr lang="en-US" sz="1600" b="1" i="1" smtClean="0">
                          <a:latin typeface="Cambria Math" panose="02040503050406030204" pitchFamily="18" charset="0"/>
                        </a:rPr>
                        <m:t>.</m:t>
                      </m:r>
                      <m:r>
                        <a:rPr lang="en-US" sz="1600" b="1" i="1" smtClean="0">
                          <a:latin typeface="Cambria Math" panose="02040503050406030204" pitchFamily="18" charset="0"/>
                        </a:rPr>
                        <m:t>𝟎𝟎</m:t>
                      </m:r>
                      <m:r>
                        <a:rPr lang="en-US" sz="1600" b="1" i="1" smtClean="0">
                          <a:latin typeface="Cambria Math" panose="02040503050406030204" pitchFamily="18" charset="0"/>
                        </a:rPr>
                        <m:t>+</m:t>
                      </m:r>
                      <m:r>
                        <a:rPr lang="en-US" sz="1600" b="1" i="1" smtClean="0">
                          <a:latin typeface="Cambria Math" panose="02040503050406030204" pitchFamily="18" charset="0"/>
                        </a:rPr>
                        <m:t>𝟗𝟒</m:t>
                      </m:r>
                      <m:r>
                        <a:rPr lang="en-US" sz="1600" b="1" i="1" smtClean="0">
                          <a:latin typeface="Cambria Math" panose="02040503050406030204" pitchFamily="18" charset="0"/>
                        </a:rPr>
                        <m:t>.</m:t>
                      </m:r>
                      <m:r>
                        <a:rPr lang="en-US" sz="1600" b="1" i="1" smtClean="0">
                          <a:latin typeface="Cambria Math" panose="02040503050406030204" pitchFamily="18" charset="0"/>
                        </a:rPr>
                        <m:t>𝟓𝟎</m:t>
                      </m:r>
                      <m:r>
                        <a:rPr lang="en-US" sz="1600" b="1" i="1" smtClean="0">
                          <a:latin typeface="Cambria Math" panose="02040503050406030204" pitchFamily="18" charset="0"/>
                        </a:rPr>
                        <m:t>𝒉𝒐𝒖𝒓𝒔</m:t>
                      </m:r>
                      <m:r>
                        <a:rPr lang="en-US" sz="1600" b="1" i="1" smtClean="0">
                          <a:latin typeface="Cambria Math" panose="02040503050406030204" pitchFamily="18" charset="0"/>
                        </a:rPr>
                        <m:t>+</m:t>
                      </m:r>
                      <m:r>
                        <a:rPr lang="en-US" sz="1600" b="1" i="1" smtClean="0">
                          <a:latin typeface="Cambria Math" panose="02040503050406030204" pitchFamily="18" charset="0"/>
                        </a:rPr>
                        <m:t>𝟏𝟒𝟓</m:t>
                      </m:r>
                      <m:r>
                        <a:rPr lang="en-US" sz="1600" b="1" i="1" smtClean="0">
                          <a:latin typeface="Cambria Math" panose="02040503050406030204" pitchFamily="18" charset="0"/>
                        </a:rPr>
                        <m:t>.</m:t>
                      </m:r>
                      <m:r>
                        <a:rPr lang="en-US" sz="1600" b="1" i="1" smtClean="0">
                          <a:latin typeface="Cambria Math" panose="02040503050406030204" pitchFamily="18" charset="0"/>
                        </a:rPr>
                        <m:t>𝟖𝟏</m:t>
                      </m:r>
                      <m:r>
                        <a:rPr lang="en-US" sz="1600" b="1" i="1" smtClean="0">
                          <a:latin typeface="Cambria Math" panose="02040503050406030204" pitchFamily="18" charset="0"/>
                        </a:rPr>
                        <m:t>𝒂𝒈𝒆</m:t>
                      </m:r>
                      <m:r>
                        <a:rPr lang="en-US" sz="1600" b="1" i="1" smtClean="0">
                          <a:latin typeface="Cambria Math" panose="02040503050406030204" pitchFamily="18" charset="0"/>
                        </a:rPr>
                        <m:t>−</m:t>
                      </m:r>
                      <m:r>
                        <a:rPr lang="en-US" sz="1600" b="1" i="1" smtClean="0">
                          <a:latin typeface="Cambria Math" panose="02040503050406030204" pitchFamily="18" charset="0"/>
                        </a:rPr>
                        <m:t>𝟏</m:t>
                      </m:r>
                      <m:r>
                        <a:rPr lang="en-US" sz="1600" b="1" i="1" smtClean="0">
                          <a:latin typeface="Cambria Math" panose="02040503050406030204" pitchFamily="18" charset="0"/>
                        </a:rPr>
                        <m:t>.</m:t>
                      </m:r>
                      <m:r>
                        <a:rPr lang="en-US" sz="1600" b="1" i="1" smtClean="0">
                          <a:latin typeface="Cambria Math" panose="02040503050406030204" pitchFamily="18" charset="0"/>
                        </a:rPr>
                        <m:t>𝟔𝟓</m:t>
                      </m:r>
                      <m:r>
                        <a:rPr lang="en-US" sz="1600" b="1" i="1" smtClean="0">
                          <a:latin typeface="Cambria Math" panose="02040503050406030204" pitchFamily="18" charset="0"/>
                        </a:rPr>
                        <m:t>𝒂𝒈</m:t>
                      </m:r>
                      <m:sSup>
                        <m:sSupPr>
                          <m:ctrlPr>
                            <a:rPr lang="en-US" sz="1600" b="1" i="1" smtClean="0">
                              <a:latin typeface="Cambria Math" panose="02040503050406030204" pitchFamily="18" charset="0"/>
                            </a:rPr>
                          </m:ctrlPr>
                        </m:sSupPr>
                        <m:e>
                          <m:r>
                            <a:rPr lang="en-US" sz="1600" b="1" i="1" smtClean="0">
                              <a:latin typeface="Cambria Math" panose="02040503050406030204" pitchFamily="18" charset="0"/>
                            </a:rPr>
                            <m:t>𝒆</m:t>
                          </m:r>
                        </m:e>
                        <m:sup>
                          <m:r>
                            <a:rPr lang="en-US" sz="1600" b="1" i="1" smtClean="0">
                              <a:latin typeface="Cambria Math" panose="02040503050406030204" pitchFamily="18" charset="0"/>
                            </a:rPr>
                            <m:t>𝟐</m:t>
                          </m:r>
                        </m:sup>
                      </m:sSup>
                    </m:oMath>
                  </m:oMathPara>
                </a14:m>
                <a:endParaRPr lang="en-US" sz="1600" dirty="0"/>
              </a:p>
              <a:p>
                <a:pPr marL="0" indent="0">
                  <a:buNone/>
                </a:pPr>
                <a:endParaRPr lang="en-US" sz="1600" dirty="0"/>
              </a:p>
              <a:p>
                <a:pPr lvl="1"/>
                <a:endParaRPr lang="en-US" sz="1600" dirty="0"/>
              </a:p>
              <a:p>
                <a:endParaRPr lang="en-US" sz="1600" dirty="0">
                  <a:effectLst/>
                </a:endParaRPr>
              </a:p>
            </p:txBody>
          </p:sp>
        </mc:Choice>
        <mc:Fallback xmlns="">
          <p:sp>
            <p:nvSpPr>
              <p:cNvPr id="3" name="Content Placeholder 2">
                <a:extLst>
                  <a:ext uri="{FF2B5EF4-FFF2-40B4-BE49-F238E27FC236}">
                    <a16:creationId xmlns:a16="http://schemas.microsoft.com/office/drawing/2014/main" id="{ECDCB4DA-D298-7040-9AE1-0E03DB8D5766}"/>
                  </a:ext>
                </a:extLst>
              </p:cNvPr>
              <p:cNvSpPr>
                <a:spLocks noGrp="1" noRot="1" noChangeAspect="1" noMove="1" noResize="1" noEditPoints="1" noAdjustHandles="1" noChangeArrowheads="1" noChangeShapeType="1" noTextEdit="1"/>
              </p:cNvSpPr>
              <p:nvPr>
                <p:ph idx="1"/>
              </p:nvPr>
            </p:nvSpPr>
            <p:spPr>
              <a:xfrm>
                <a:off x="1371600" y="2286000"/>
                <a:ext cx="5740400" cy="4367048"/>
              </a:xfrm>
              <a:blipFill>
                <a:blip r:embed="rId2"/>
                <a:stretch>
                  <a:fillRect l="-662" t="-1163"/>
                </a:stretch>
              </a:blipFill>
            </p:spPr>
            <p:txBody>
              <a:bodyPr/>
              <a:lstStyle/>
              <a:p>
                <a:r>
                  <a:rPr lang="en-US">
                    <a:noFill/>
                  </a:rPr>
                  <a:t> </a:t>
                </a:r>
              </a:p>
            </p:txBody>
          </p:sp>
        </mc:Fallback>
      </mc:AlternateContent>
      <p:pic>
        <p:nvPicPr>
          <p:cNvPr id="7" name="Picture 6" descr="A screenshot of a computer screen&#10;&#10;Description automatically generated">
            <a:extLst>
              <a:ext uri="{FF2B5EF4-FFF2-40B4-BE49-F238E27FC236}">
                <a16:creationId xmlns:a16="http://schemas.microsoft.com/office/drawing/2014/main" id="{E32D6921-127A-5A7B-B636-B12EA09E2331}"/>
              </a:ext>
            </a:extLst>
          </p:cNvPr>
          <p:cNvPicPr>
            <a:picLocks noChangeAspect="1"/>
          </p:cNvPicPr>
          <p:nvPr/>
        </p:nvPicPr>
        <p:blipFill>
          <a:blip r:embed="rId3"/>
          <a:stretch>
            <a:fillRect/>
          </a:stretch>
        </p:blipFill>
        <p:spPr>
          <a:xfrm>
            <a:off x="6957349" y="1680695"/>
            <a:ext cx="4854708" cy="3327187"/>
          </a:xfrm>
          <a:prstGeom prst="rect">
            <a:avLst/>
          </a:prstGeom>
        </p:spPr>
      </p:pic>
    </p:spTree>
    <p:extLst>
      <p:ext uri="{BB962C8B-B14F-4D97-AF65-F5344CB8AC3E}">
        <p14:creationId xmlns:p14="http://schemas.microsoft.com/office/powerpoint/2010/main" val="3073667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A714C-43C9-6246-ACBA-BB82D8DE7C5C}"/>
              </a:ext>
            </a:extLst>
          </p:cNvPr>
          <p:cNvSpPr>
            <a:spLocks noGrp="1"/>
          </p:cNvSpPr>
          <p:nvPr>
            <p:ph type="title"/>
          </p:nvPr>
        </p:nvSpPr>
        <p:spPr>
          <a:xfrm>
            <a:off x="1023562" y="685800"/>
            <a:ext cx="10493524" cy="1485900"/>
          </a:xfrm>
        </p:spPr>
        <p:txBody>
          <a:bodyPr>
            <a:normAutofit/>
          </a:bodyPr>
          <a:lstStyle/>
          <a:p>
            <a:r>
              <a:rPr lang="en-US" dirty="0"/>
              <a:t>Step 7: Use the model for prediction</a:t>
            </a:r>
          </a:p>
        </p:txBody>
      </p:sp>
      <p:sp>
        <p:nvSpPr>
          <p:cNvPr id="13" name="Rectangle 8">
            <a:extLst>
              <a:ext uri="{FF2B5EF4-FFF2-40B4-BE49-F238E27FC236}">
                <a16:creationId xmlns:a16="http://schemas.microsoft.com/office/drawing/2014/main" id="{B9F89C22-0475-4427-B7C8-0269AD40E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45EB6B-504A-444D-B9E0-3BA1A45D4815}"/>
                  </a:ext>
                </a:extLst>
              </p:cNvPr>
              <p:cNvSpPr>
                <a:spLocks noGrp="1"/>
              </p:cNvSpPr>
              <p:nvPr>
                <p:ph idx="1"/>
              </p:nvPr>
            </p:nvSpPr>
            <p:spPr>
              <a:xfrm>
                <a:off x="1023562" y="1938867"/>
                <a:ext cx="5809038" cy="4656666"/>
              </a:xfrm>
            </p:spPr>
            <p:txBody>
              <a:bodyPr>
                <a:normAutofit/>
              </a:bodyPr>
              <a:lstStyle/>
              <a:p>
                <a:r>
                  <a:rPr lang="en-US" sz="1800" dirty="0"/>
                  <a:t>What is the predicted yearly earnings for a vendor that is 45 years old and works 10 hours per day? </a:t>
                </a:r>
              </a:p>
              <a:p>
                <a:pPr lvl="1"/>
                <a:r>
                  <a:rPr lang="en-US" sz="1800" dirty="0"/>
                  <a:t>Point Estimation for y: </a:t>
                </a:r>
                <a14:m>
                  <m:oMath xmlns:m="http://schemas.openxmlformats.org/officeDocument/2006/math">
                    <m:acc>
                      <m:accPr>
                        <m:chr m:val="̂"/>
                        <m:ctrlPr>
                          <a:rPr lang="en-US" sz="1800" i="1">
                            <a:latin typeface="Cambria Math" panose="02040503050406030204" pitchFamily="18" charset="0"/>
                          </a:rPr>
                        </m:ctrlPr>
                      </m:accPr>
                      <m:e>
                        <m:r>
                          <a:rPr lang="en-US" sz="1800">
                            <a:latin typeface="Cambria Math" panose="02040503050406030204" pitchFamily="18" charset="0"/>
                          </a:rPr>
                          <m:t>𝑦</m:t>
                        </m:r>
                      </m:e>
                    </m:acc>
                    <m:r>
                      <a:rPr lang="en-US" sz="1800">
                        <a:latin typeface="Cambria Math" panose="02040503050406030204" pitchFamily="18" charset="0"/>
                      </a:rPr>
                      <m:t> </m:t>
                    </m:r>
                  </m:oMath>
                </a14:m>
                <a:r>
                  <a:rPr lang="en-US" sz="1800" dirty="0"/>
                  <a:t>=$3,397</a:t>
                </a:r>
              </a:p>
              <a:p>
                <a:r>
                  <a:rPr lang="en-US" sz="1800" dirty="0"/>
                  <a:t>What is the 95% interval estimate for the yearly earnings for a vendor that is 45 years old and works 10 hours per day?</a:t>
                </a:r>
              </a:p>
              <a:p>
                <a:pPr lvl="1"/>
                <a:r>
                  <a:rPr lang="en-US" dirty="0"/>
                  <a:t>Note this is a *prediction interval*. 3397±2.2√(204,632 + 211.11</a:t>
                </a:r>
                <a:r>
                  <a:rPr lang="en-US" baseline="30000" dirty="0"/>
                  <a:t>2</a:t>
                </a:r>
                <a:r>
                  <a:rPr lang="en-US" dirty="0"/>
                  <a:t>) = (2299, 4496) </a:t>
                </a:r>
              </a:p>
              <a:p>
                <a:pPr lvl="1"/>
                <a:r>
                  <a:rPr lang="en-US" dirty="0"/>
                  <a:t>We are 95% confident that the yearly earnings of a vendor who is 45 years old and works 10 hours per week will be between $2,299 and $4,496. </a:t>
                </a:r>
                <a:endParaRPr lang="en-US" sz="1800" dirty="0"/>
              </a:p>
            </p:txBody>
          </p:sp>
        </mc:Choice>
        <mc:Fallback xmlns="">
          <p:sp>
            <p:nvSpPr>
              <p:cNvPr id="3" name="Content Placeholder 2">
                <a:extLst>
                  <a:ext uri="{FF2B5EF4-FFF2-40B4-BE49-F238E27FC236}">
                    <a16:creationId xmlns:a16="http://schemas.microsoft.com/office/drawing/2014/main" id="{5A45EB6B-504A-444D-B9E0-3BA1A45D4815}"/>
                  </a:ext>
                </a:extLst>
              </p:cNvPr>
              <p:cNvSpPr>
                <a:spLocks noGrp="1" noRot="1" noChangeAspect="1" noMove="1" noResize="1" noEditPoints="1" noAdjustHandles="1" noChangeArrowheads="1" noChangeShapeType="1" noTextEdit="1"/>
              </p:cNvSpPr>
              <p:nvPr>
                <p:ph idx="1"/>
              </p:nvPr>
            </p:nvSpPr>
            <p:spPr>
              <a:xfrm>
                <a:off x="1023562" y="1938867"/>
                <a:ext cx="5809038" cy="4656666"/>
              </a:xfrm>
              <a:blipFill>
                <a:blip r:embed="rId3"/>
                <a:stretch>
                  <a:fillRect l="-655" t="-817" r="-1092"/>
                </a:stretch>
              </a:blipFill>
            </p:spPr>
            <p:txBody>
              <a:bodyPr/>
              <a:lstStyle/>
              <a:p>
                <a:r>
                  <a:rPr lang="en-US">
                    <a:noFill/>
                  </a:rPr>
                  <a:t> </a:t>
                </a:r>
              </a:p>
            </p:txBody>
          </p:sp>
        </mc:Fallback>
      </mc:AlternateContent>
      <p:pic>
        <p:nvPicPr>
          <p:cNvPr id="8" name="Picture 7" descr="A black background with white text and purple letters&#10;&#10;Description automatically generated">
            <a:extLst>
              <a:ext uri="{FF2B5EF4-FFF2-40B4-BE49-F238E27FC236}">
                <a16:creationId xmlns:a16="http://schemas.microsoft.com/office/drawing/2014/main" id="{A42FBD3F-DE5E-D2BD-72F1-552B783053C4}"/>
              </a:ext>
            </a:extLst>
          </p:cNvPr>
          <p:cNvPicPr>
            <a:picLocks noChangeAspect="1"/>
          </p:cNvPicPr>
          <p:nvPr/>
        </p:nvPicPr>
        <p:blipFill>
          <a:blip r:embed="rId4"/>
          <a:stretch>
            <a:fillRect/>
          </a:stretch>
        </p:blipFill>
        <p:spPr>
          <a:xfrm>
            <a:off x="6832600" y="3278486"/>
            <a:ext cx="5207000" cy="723900"/>
          </a:xfrm>
          <a:prstGeom prst="rect">
            <a:avLst/>
          </a:prstGeom>
        </p:spPr>
      </p:pic>
    </p:spTree>
    <p:extLst>
      <p:ext uri="{BB962C8B-B14F-4D97-AF65-F5344CB8AC3E}">
        <p14:creationId xmlns:p14="http://schemas.microsoft.com/office/powerpoint/2010/main" val="1197185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A714C-43C9-6246-ACBA-BB82D8DE7C5C}"/>
              </a:ext>
            </a:extLst>
          </p:cNvPr>
          <p:cNvSpPr>
            <a:spLocks noGrp="1"/>
          </p:cNvSpPr>
          <p:nvPr>
            <p:ph type="title"/>
          </p:nvPr>
        </p:nvSpPr>
        <p:spPr>
          <a:xfrm>
            <a:off x="1023562" y="685800"/>
            <a:ext cx="10493524" cy="1485900"/>
          </a:xfrm>
        </p:spPr>
        <p:txBody>
          <a:bodyPr>
            <a:normAutofit/>
          </a:bodyPr>
          <a:lstStyle/>
          <a:p>
            <a:r>
              <a:rPr lang="en-US" dirty="0"/>
              <a:t>Step 7: Use the model for estimation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45EB6B-504A-444D-B9E0-3BA1A45D4815}"/>
                  </a:ext>
                </a:extLst>
              </p:cNvPr>
              <p:cNvSpPr>
                <a:spLocks noGrp="1"/>
              </p:cNvSpPr>
              <p:nvPr>
                <p:ph idx="1"/>
              </p:nvPr>
            </p:nvSpPr>
            <p:spPr>
              <a:xfrm>
                <a:off x="1023562" y="1938866"/>
                <a:ext cx="5521171" cy="4766733"/>
              </a:xfrm>
            </p:spPr>
            <p:txBody>
              <a:bodyPr>
                <a:normAutofit/>
              </a:bodyPr>
              <a:lstStyle/>
              <a:p>
                <a:r>
                  <a:rPr lang="en-US" sz="1800" dirty="0"/>
                  <a:t>What is the estimated yearly earnings for vendors that are 45 years old and work 10 hours per day? </a:t>
                </a:r>
              </a:p>
              <a:p>
                <a:pPr lvl="1"/>
                <a:r>
                  <a:rPr lang="en-US" sz="1800" dirty="0"/>
                  <a:t>Point Estimation for E(y): </a:t>
                </a:r>
                <a14:m>
                  <m:oMath xmlns:m="http://schemas.openxmlformats.org/officeDocument/2006/math">
                    <m:acc>
                      <m:accPr>
                        <m:chr m:val="̂"/>
                        <m:ctrlPr>
                          <a:rPr lang="en-US" sz="1800" i="1">
                            <a:latin typeface="Cambria Math" panose="02040503050406030204" pitchFamily="18" charset="0"/>
                          </a:rPr>
                        </m:ctrlPr>
                      </m:accPr>
                      <m:e>
                        <m:r>
                          <a:rPr lang="en-US" sz="1800">
                            <a:latin typeface="Cambria Math" panose="02040503050406030204" pitchFamily="18" charset="0"/>
                          </a:rPr>
                          <m:t>𝑦</m:t>
                        </m:r>
                      </m:e>
                    </m:acc>
                    <m:r>
                      <a:rPr lang="en-US" sz="1800">
                        <a:latin typeface="Cambria Math" panose="02040503050406030204" pitchFamily="18" charset="0"/>
                      </a:rPr>
                      <m:t> </m:t>
                    </m:r>
                  </m:oMath>
                </a14:m>
                <a:r>
                  <a:rPr lang="en-US" sz="1800" dirty="0"/>
                  <a:t>=$3,397</a:t>
                </a:r>
              </a:p>
              <a:p>
                <a:r>
                  <a:rPr lang="en-US" sz="1800" dirty="0"/>
                  <a:t>What is the 95% interval estimate for the average yearly earnings for vendors that is 45 years old and works 10 hours per day?</a:t>
                </a:r>
              </a:p>
              <a:p>
                <a:pPr lvl="1"/>
                <a:r>
                  <a:rPr lang="en-US" dirty="0"/>
                  <a:t>Note this is a *confidence interval*. 3397 ± 2.2 ∗ 211.11 = (2933,3862)</a:t>
                </a:r>
              </a:p>
              <a:p>
                <a:pPr lvl="1"/>
                <a:r>
                  <a:rPr lang="en-US" dirty="0"/>
                  <a:t>We are 95% confident that the true mean yearly earnings of a vendor who is 45 years old and works 10 hours per week will be between $2,933 and </a:t>
                </a:r>
                <a:r>
                  <a:rPr lang="en-US"/>
                  <a:t>$3,862</a:t>
                </a:r>
                <a:r>
                  <a:rPr lang="en-US" dirty="0"/>
                  <a:t>. </a:t>
                </a:r>
                <a:endParaRPr lang="en-US" sz="1800" dirty="0"/>
              </a:p>
              <a:p>
                <a:endParaRPr lang="en-US" sz="1800" dirty="0"/>
              </a:p>
            </p:txBody>
          </p:sp>
        </mc:Choice>
        <mc:Fallback>
          <p:sp>
            <p:nvSpPr>
              <p:cNvPr id="3" name="Content Placeholder 2">
                <a:extLst>
                  <a:ext uri="{FF2B5EF4-FFF2-40B4-BE49-F238E27FC236}">
                    <a16:creationId xmlns:a16="http://schemas.microsoft.com/office/drawing/2014/main" id="{5A45EB6B-504A-444D-B9E0-3BA1A45D4815}"/>
                  </a:ext>
                </a:extLst>
              </p:cNvPr>
              <p:cNvSpPr>
                <a:spLocks noGrp="1" noRot="1" noChangeAspect="1" noMove="1" noResize="1" noEditPoints="1" noAdjustHandles="1" noChangeArrowheads="1" noChangeShapeType="1" noTextEdit="1"/>
              </p:cNvSpPr>
              <p:nvPr>
                <p:ph idx="1"/>
              </p:nvPr>
            </p:nvSpPr>
            <p:spPr>
              <a:xfrm>
                <a:off x="1023562" y="1938866"/>
                <a:ext cx="5521171" cy="4766733"/>
              </a:xfrm>
              <a:blipFill>
                <a:blip r:embed="rId2"/>
                <a:stretch>
                  <a:fillRect l="-688" t="-798" r="-1147"/>
                </a:stretch>
              </a:blipFill>
            </p:spPr>
            <p:txBody>
              <a:bodyPr/>
              <a:lstStyle/>
              <a:p>
                <a:r>
                  <a:rPr lang="en-US">
                    <a:noFill/>
                  </a:rPr>
                  <a:t> </a:t>
                </a:r>
              </a:p>
            </p:txBody>
          </p:sp>
        </mc:Fallback>
      </mc:AlternateContent>
      <p:pic>
        <p:nvPicPr>
          <p:cNvPr id="8" name="Picture 7" descr="A black background with white text&#10;&#10;Description automatically generated">
            <a:extLst>
              <a:ext uri="{FF2B5EF4-FFF2-40B4-BE49-F238E27FC236}">
                <a16:creationId xmlns:a16="http://schemas.microsoft.com/office/drawing/2014/main" id="{7B1D72EE-3E0E-43BA-B1F1-44578781E641}"/>
              </a:ext>
            </a:extLst>
          </p:cNvPr>
          <p:cNvPicPr>
            <a:picLocks noChangeAspect="1"/>
          </p:cNvPicPr>
          <p:nvPr/>
        </p:nvPicPr>
        <p:blipFill>
          <a:blip r:embed="rId3"/>
          <a:stretch>
            <a:fillRect/>
          </a:stretch>
        </p:blipFill>
        <p:spPr>
          <a:xfrm>
            <a:off x="6668724" y="3054350"/>
            <a:ext cx="5156200" cy="749300"/>
          </a:xfrm>
          <a:prstGeom prst="rect">
            <a:avLst/>
          </a:prstGeom>
        </p:spPr>
      </p:pic>
    </p:spTree>
    <p:extLst>
      <p:ext uri="{BB962C8B-B14F-4D97-AF65-F5344CB8AC3E}">
        <p14:creationId xmlns:p14="http://schemas.microsoft.com/office/powerpoint/2010/main" val="329203262"/>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otalTime>254</TotalTime>
  <Words>1123</Words>
  <Application>Microsoft Macintosh PowerPoint</Application>
  <PresentationFormat>Widescreen</PresentationFormat>
  <Paragraphs>64</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Cambria Math</vt:lpstr>
      <vt:lpstr>Franklin Gothic Book</vt:lpstr>
      <vt:lpstr>Crop</vt:lpstr>
      <vt:lpstr>estimation vs prediction</vt:lpstr>
      <vt:lpstr>Using the model for Prediction and estimation</vt:lpstr>
      <vt:lpstr>  The goal for multiple linear regression is to  </vt:lpstr>
      <vt:lpstr>Example </vt:lpstr>
      <vt:lpstr>Example</vt:lpstr>
      <vt:lpstr>Writing the model: Before you write you model, you should decide: is your goal PREDICTION or ESTIMATION? </vt:lpstr>
      <vt:lpstr>Writing the prediction equation: Whether you intend to use your model for prediction OR estimation, you end up with the same prediction equation.  </vt:lpstr>
      <vt:lpstr>Intervals: Remember y (the true realized value given a set of predictors) and E(y) (the true average value of y given a set of predictors) are UNKNOWN. (y_i ) ̂ is a point estimate for both of those values, but we would prefer to have an interval estimate for each. </vt:lpstr>
      <vt:lpstr>Example</vt:lpstr>
      <vt:lpstr>Step 1: Background &amp; Data </vt:lpstr>
      <vt:lpstr>Step 2-4: Reminder of model fit</vt:lpstr>
      <vt:lpstr>Step 7: Use the model for prediction</vt:lpstr>
      <vt:lpstr>Step 7: Use the model for estimation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 4.9 </dc:title>
  <dc:creator>Varanyak, Krista Marie (kmv9q)</dc:creator>
  <cp:lastModifiedBy>Varanyak, Krista Marie (kmv9q)</cp:lastModifiedBy>
  <cp:revision>13</cp:revision>
  <dcterms:created xsi:type="dcterms:W3CDTF">2020-09-02T13:34:37Z</dcterms:created>
  <dcterms:modified xsi:type="dcterms:W3CDTF">2023-09-05T20:39:32Z</dcterms:modified>
</cp:coreProperties>
</file>